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A"/>
    <a:srgbClr val="006837"/>
    <a:srgbClr val="01A66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0"/>
    <c:plotArea>
      <c:layout/>
      <c:barChart>
        <c:barDir val="col"/>
        <c:grouping val="clustered"/>
        <c:varyColors val="1"/>
        <c:ser>
          <c:idx val="0"/>
          <c:order val="0"/>
          <c:tx>
            <c:strRef>
              <c:f>Sheet1!$B$1</c:f>
              <c:strCache>
                <c:ptCount val="1"/>
                <c:pt idx="0">
                  <c:v>jev-1.13.0</c:v>
                </c:pt>
              </c:strCache>
            </c:strRef>
          </c:tx>
          <c:spPr>
            <a:solidFill>
              <a:srgbClr val="4376B9"/>
            </a:solidFill>
          </c:spPr>
          <c:invertIfNegative val="1"/>
          <c:dLbls>
            <c:numFmt formatCode="#,##0" sourceLinked="0"/>
            <c:spPr>
              <a:noFill/>
              <a:ln>
                <a:noFill/>
              </a:ln>
              <a:effectLst/>
            </c:spPr>
            <c:txPr>
              <a:bodyPr/>
              <a:lstStyle/>
              <a:p>
                <a:pPr>
                  <a:defRPr sz="1100">
                    <a:solidFill>
                      <a:srgbClr val="212529"/>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Soporte · 3 preguntas</c:v>
                </c:pt>
                <c:pt idx="1">
                  <c:v>Reseña · 40 preguntas</c:v>
                </c:pt>
                <c:pt idx="2">
                  <c:v>Enrutamiento · 30 opciones</c:v>
                </c:pt>
                <c:pt idx="3">
                  <c:v>Moderación · 15 comentarios</c:v>
                </c:pt>
              </c:strCache>
            </c:strRef>
          </c:cat>
          <c:val>
            <c:numRef>
              <c:f>Sheet1!$B$2:$B$5</c:f>
              <c:numCache>
                <c:formatCode>General</c:formatCode>
                <c:ptCount val="4"/>
                <c:pt idx="0">
                  <c:v>208</c:v>
                </c:pt>
                <c:pt idx="1">
                  <c:v>373</c:v>
                </c:pt>
                <c:pt idx="2">
                  <c:v>271</c:v>
                </c:pt>
                <c:pt idx="3">
                  <c:v>485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F52E-4C76-BF31-757CD804A06F}"/>
            </c:ext>
          </c:extLst>
        </c:ser>
        <c:ser>
          <c:idx val="1"/>
          <c:order val="1"/>
          <c:tx>
            <c:strRef>
              <c:f>Sheet1!$C$1</c:f>
              <c:strCache>
                <c:ptCount val="1"/>
                <c:pt idx="0">
                  <c:v>deepseek-chat</c:v>
                </c:pt>
              </c:strCache>
            </c:strRef>
          </c:tx>
          <c:spPr>
            <a:solidFill>
              <a:srgbClr val="A3AAB3"/>
            </a:solidFill>
          </c:spPr>
          <c:invertIfNegative val="1"/>
          <c:dLbls>
            <c:numFmt formatCode="#,##0" sourceLinked="0"/>
            <c:spPr>
              <a:noFill/>
              <a:ln>
                <a:noFill/>
              </a:ln>
              <a:effectLst/>
            </c:spPr>
            <c:txPr>
              <a:bodyPr/>
              <a:lstStyle/>
              <a:p>
                <a:pPr>
                  <a:defRPr sz="1100">
                    <a:solidFill>
                      <a:srgbClr val="212529"/>
                    </a:solidFill>
                  </a:defRPr>
                </a:pPr>
                <a:endParaRPr lang="es-CO"/>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Soporte · 3 preguntas</c:v>
                </c:pt>
                <c:pt idx="1">
                  <c:v>Reseña · 40 preguntas</c:v>
                </c:pt>
                <c:pt idx="2">
                  <c:v>Enrutamiento · 30 opciones</c:v>
                </c:pt>
                <c:pt idx="3">
                  <c:v>Moderación · 15 comentarios</c:v>
                </c:pt>
              </c:strCache>
            </c:strRef>
          </c:cat>
          <c:val>
            <c:numRef>
              <c:f>Sheet1!$C$2:$C$5</c:f>
              <c:numCache>
                <c:formatCode>General</c:formatCode>
                <c:ptCount val="4"/>
                <c:pt idx="0">
                  <c:v>881</c:v>
                </c:pt>
                <c:pt idx="1">
                  <c:v>1469</c:v>
                </c:pt>
                <c:pt idx="2">
                  <c:v>1076</c:v>
                </c:pt>
                <c:pt idx="3">
                  <c:v>1051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F52E-4C76-BF31-757CD804A06F}"/>
            </c:ext>
          </c:extLst>
        </c:ser>
        <c:dLbls>
          <c:showLegendKey val="0"/>
          <c:showVal val="0"/>
          <c:showCatName val="0"/>
          <c:showSerName val="0"/>
          <c:showPercent val="0"/>
          <c:showBubbleSize val="0"/>
        </c:dLbls>
        <c:gapWidth val="7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0D7DE"/>
            </a:solidFill>
          </a:ln>
        </c:spPr>
        <c:txPr>
          <a:bodyPr/>
          <a:lstStyle/>
          <a:p>
            <a:pPr>
              <a:defRPr sz="1100">
                <a:solidFill>
                  <a:srgbClr val="212529"/>
                </a:solidFill>
              </a:defRPr>
            </a:pPr>
            <a:endParaRPr lang="es-CO"/>
          </a:p>
        </c:txPr>
        <c:crossAx val="-2113994440"/>
        <c:crosses val="autoZero"/>
        <c:auto val="1"/>
        <c:lblAlgn val="ctr"/>
        <c:lblOffset val="100"/>
        <c:noMultiLvlLbl val="0"/>
      </c:catAx>
      <c:valAx>
        <c:axId val="-2113994440"/>
        <c:scaling>
          <c:orientation val="minMax"/>
          <c:max val="1600"/>
          <c:min val="0"/>
        </c:scaling>
        <c:delete val="0"/>
        <c:axPos val="l"/>
        <c:majorGridlines>
          <c:spPr>
            <a:ln w="6350">
              <a:solidFill>
                <a:srgbClr val="D0D7DE"/>
              </a:solidFill>
            </a:ln>
          </c:spPr>
        </c:majorGridlines>
        <c:numFmt formatCode="#,##0&quot; ms&quot;" sourceLinked="0"/>
        <c:majorTickMark val="out"/>
        <c:minorTickMark val="none"/>
        <c:tickLblPos val="nextTo"/>
        <c:spPr>
          <a:ln>
            <a:noFill/>
          </a:ln>
        </c:spPr>
        <c:txPr>
          <a:bodyPr/>
          <a:lstStyle/>
          <a:p>
            <a:pPr>
              <a:defRPr sz="1100">
                <a:solidFill>
                  <a:srgbClr val="5F6B76"/>
                </a:solidFill>
              </a:defRPr>
            </a:pPr>
            <a:endParaRPr lang="es-CO"/>
          </a:p>
        </c:txPr>
        <c:crossAx val="-2068027336"/>
        <c:crosses val="autoZero"/>
        <c:crossBetween val="between"/>
        <c:majorUnit val="400"/>
      </c:valAx>
    </c:plotArea>
    <c:legend>
      <c:legendPos val="t"/>
      <c:overlay val="0"/>
      <c:txPr>
        <a:bodyPr/>
        <a:lstStyle/>
        <a:p>
          <a:pPr>
            <a:defRPr sz="1200">
              <a:solidFill>
                <a:srgbClr val="212529"/>
              </a:solidFill>
            </a:defRPr>
          </a:pPr>
          <a:endParaRPr lang="es-CO"/>
        </a:p>
      </c:txPr>
    </c:legend>
    <c:plotVisOnly val="1"/>
    <c:dispBlanksAs val="gap"/>
    <c:showDLblsOverMax val="1"/>
  </c:chart>
  <c:txPr>
    <a:bodyPr/>
    <a:lstStyle/>
    <a:p>
      <a:pPr>
        <a:defRPr sz="1100">
          <a:solidFill>
            <a:srgbClr val="5F6B76"/>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s-ES"/>
  <c:roundedCorners val="1"/>
  <c:style val="2"/>
  <c:chart>
    <c:autoTitleDeleted val="1"/>
    <c:plotArea>
      <c:layout/>
      <c:scatterChart>
        <c:scatterStyle val="lineMarker"/>
        <c:varyColors val="0"/>
        <c:ser>
          <c:idx val="0"/>
          <c:order val="0"/>
          <c:tx>
            <c:strRef>
              <c:f>Sheet1!$B$1</c:f>
              <c:strCache>
                <c:ptCount val="1"/>
                <c:pt idx="0">
                  <c:v>jev-1.13.0</c:v>
                </c:pt>
              </c:strCache>
            </c:strRef>
          </c:tx>
          <c:spPr>
            <a:ln w="31750">
              <a:solidFill>
                <a:srgbClr val="4376B9"/>
              </a:solidFill>
            </a:ln>
          </c:spPr>
          <c:marker>
            <c:symbol val="circle"/>
            <c:size val="8"/>
            <c:spPr>
              <a:solidFill>
                <a:srgbClr val="4376B9"/>
              </a:solidFill>
              <a:ln>
                <a:solidFill>
                  <a:srgbClr val="FFFFFF"/>
                </a:solidFill>
              </a:ln>
            </c:spPr>
          </c:marker>
          <c:dLbls>
            <c:dLbl>
              <c:idx val="0"/>
              <c:tx>
                <c:rich>
                  <a:bodyPr/>
                  <a:lstStyle/>
                  <a:p>
                    <a:r>
                      <a:rPr sz="1100">
                        <a:solidFill>
                          <a:srgbClr val="212529"/>
                        </a:solidFill>
                      </a:rPr>
                      <a:t>226</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911-4508-8D77-525237C0B85B}"/>
                </c:ext>
              </c:extLst>
            </c:dLbl>
            <c:dLbl>
              <c:idx val="3"/>
              <c:tx>
                <c:rich>
                  <a:bodyPr/>
                  <a:lstStyle/>
                  <a:p>
                    <a:r>
                      <a:rPr sz="1100">
                        <a:solidFill>
                          <a:srgbClr val="212529"/>
                        </a:solidFill>
                      </a:rPr>
                      <a:t>229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911-4508-8D77-525237C0B85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Sheet1!$A$2:$A$5</c:f>
              <c:numCache>
                <c:formatCode>General</c:formatCode>
                <c:ptCount val="4"/>
                <c:pt idx="0">
                  <c:v>1</c:v>
                </c:pt>
                <c:pt idx="1">
                  <c:v>10</c:v>
                </c:pt>
                <c:pt idx="2">
                  <c:v>20</c:v>
                </c:pt>
                <c:pt idx="3">
                  <c:v>40</c:v>
                </c:pt>
              </c:numCache>
            </c:numRef>
          </c:xVal>
          <c:yVal>
            <c:numRef>
              <c:f>Sheet1!$B$2:$B$5</c:f>
              <c:numCache>
                <c:formatCode>General</c:formatCode>
                <c:ptCount val="4"/>
                <c:pt idx="0">
                  <c:v>226</c:v>
                </c:pt>
                <c:pt idx="1">
                  <c:v>201</c:v>
                </c:pt>
                <c:pt idx="2">
                  <c:v>220</c:v>
                </c:pt>
                <c:pt idx="3">
                  <c:v>229</c:v>
                </c:pt>
              </c:numCache>
            </c:numRef>
          </c:yVal>
          <c:smooth val="0"/>
          <c:extLst>
            <c:ext xmlns:c16="http://schemas.microsoft.com/office/drawing/2014/chart" uri="{C3380CC4-5D6E-409C-BE32-E72D297353CC}">
              <c16:uniqueId val="{00000002-A911-4508-8D77-525237C0B85B}"/>
            </c:ext>
          </c:extLst>
        </c:ser>
        <c:ser>
          <c:idx val="1"/>
          <c:order val="1"/>
          <c:tx>
            <c:strRef>
              <c:f>Sheet1!$B$7</c:f>
              <c:strCache>
                <c:ptCount val="1"/>
                <c:pt idx="0">
                  <c:v>deepseek-chat</c:v>
                </c:pt>
              </c:strCache>
            </c:strRef>
          </c:tx>
          <c:spPr>
            <a:ln w="31750">
              <a:solidFill>
                <a:srgbClr val="A3AAB3"/>
              </a:solidFill>
            </a:ln>
          </c:spPr>
          <c:marker>
            <c:symbol val="circle"/>
            <c:size val="8"/>
            <c:spPr>
              <a:solidFill>
                <a:srgbClr val="A3AAB3"/>
              </a:solidFill>
              <a:ln>
                <a:solidFill>
                  <a:srgbClr val="FFFFFF"/>
                </a:solidFill>
              </a:ln>
            </c:spPr>
          </c:marker>
          <c:dLbls>
            <c:dLbl>
              <c:idx val="0"/>
              <c:tx>
                <c:rich>
                  <a:bodyPr/>
                  <a:lstStyle/>
                  <a:p>
                    <a:r>
                      <a:rPr sz="1100">
                        <a:solidFill>
                          <a:srgbClr val="212529"/>
                        </a:solidFill>
                      </a:rPr>
                      <a:t>979</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911-4508-8D77-525237C0B85B}"/>
                </c:ext>
              </c:extLst>
            </c:dLbl>
            <c:dLbl>
              <c:idx val="3"/>
              <c:tx>
                <c:rich>
                  <a:bodyPr/>
                  <a:lstStyle/>
                  <a:p>
                    <a:r>
                      <a:rPr sz="1100">
                        <a:solidFill>
                          <a:srgbClr val="212529"/>
                        </a:solidFill>
                      </a:rPr>
                      <a:t>1.688</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911-4508-8D77-525237C0B85B}"/>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Sheet1!$A$8:$A$11</c:f>
              <c:numCache>
                <c:formatCode>General</c:formatCode>
                <c:ptCount val="4"/>
                <c:pt idx="0">
                  <c:v>1</c:v>
                </c:pt>
                <c:pt idx="1">
                  <c:v>10</c:v>
                </c:pt>
                <c:pt idx="2">
                  <c:v>20</c:v>
                </c:pt>
                <c:pt idx="3">
                  <c:v>40</c:v>
                </c:pt>
              </c:numCache>
            </c:numRef>
          </c:xVal>
          <c:yVal>
            <c:numRef>
              <c:f>Sheet1!$B$8:$B$11</c:f>
              <c:numCache>
                <c:formatCode>General</c:formatCode>
                <c:ptCount val="4"/>
                <c:pt idx="0">
                  <c:v>979</c:v>
                </c:pt>
                <c:pt idx="1">
                  <c:v>1052</c:v>
                </c:pt>
                <c:pt idx="2">
                  <c:v>1154</c:v>
                </c:pt>
                <c:pt idx="3">
                  <c:v>1688</c:v>
                </c:pt>
              </c:numCache>
            </c:numRef>
          </c:yVal>
          <c:smooth val="0"/>
          <c:extLst>
            <c:ext xmlns:c16="http://schemas.microsoft.com/office/drawing/2014/chart" uri="{C3380CC4-5D6E-409C-BE32-E72D297353CC}">
              <c16:uniqueId val="{00000005-A911-4508-8D77-525237C0B85B}"/>
            </c:ext>
          </c:extLst>
        </c:ser>
        <c:dLbls>
          <c:showLegendKey val="0"/>
          <c:showVal val="0"/>
          <c:showCatName val="0"/>
          <c:showSerName val="0"/>
          <c:showPercent val="0"/>
          <c:showBubbleSize val="0"/>
        </c:dLbls>
        <c:axId val="-2128940872"/>
        <c:axId val="-2129643912"/>
      </c:scatterChart>
      <c:valAx>
        <c:axId val="-2128940872"/>
        <c:scaling>
          <c:orientation val="minMax"/>
          <c:max val="42"/>
          <c:min val="0"/>
        </c:scaling>
        <c:delete val="0"/>
        <c:axPos val="b"/>
        <c:title>
          <c:tx>
            <c:rich>
              <a:bodyPr/>
              <a:lstStyle/>
              <a:p>
                <a:r>
                  <a:rPr sz="1100" b="0">
                    <a:solidFill>
                      <a:srgbClr val="5F6B76"/>
                    </a:solidFill>
                  </a:rPr>
                  <a:t>preguntas en una sola llamada</a:t>
                </a:r>
              </a:p>
            </c:rich>
          </c:tx>
          <c:overlay val="0"/>
        </c:title>
        <c:numFmt formatCode="General" sourceLinked="1"/>
        <c:majorTickMark val="out"/>
        <c:minorTickMark val="none"/>
        <c:tickLblPos val="nextTo"/>
        <c:spPr>
          <a:ln>
            <a:solidFill>
              <a:srgbClr val="D0D7DE"/>
            </a:solidFill>
          </a:ln>
        </c:spPr>
        <c:txPr>
          <a:bodyPr/>
          <a:lstStyle/>
          <a:p>
            <a:pPr>
              <a:defRPr sz="1100">
                <a:solidFill>
                  <a:srgbClr val="5F6B76"/>
                </a:solidFill>
              </a:defRPr>
            </a:pPr>
            <a:endParaRPr lang="es-CO"/>
          </a:p>
        </c:txPr>
        <c:crossAx val="-2129643912"/>
        <c:crosses val="autoZero"/>
        <c:crossBetween val="midCat"/>
        <c:majorUnit val="10"/>
      </c:valAx>
      <c:valAx>
        <c:axId val="-2129643912"/>
        <c:scaling>
          <c:orientation val="minMax"/>
          <c:max val="2000"/>
          <c:min val="0"/>
        </c:scaling>
        <c:delete val="0"/>
        <c:axPos val="l"/>
        <c:majorGridlines>
          <c:spPr>
            <a:ln w="6350">
              <a:solidFill>
                <a:srgbClr val="D0D7DE"/>
              </a:solidFill>
            </a:ln>
          </c:spPr>
        </c:majorGridlines>
        <c:numFmt formatCode="#,##0&quot; ms&quot;" sourceLinked="0"/>
        <c:majorTickMark val="out"/>
        <c:minorTickMark val="none"/>
        <c:tickLblPos val="nextTo"/>
        <c:spPr>
          <a:ln>
            <a:noFill/>
          </a:ln>
        </c:spPr>
        <c:txPr>
          <a:bodyPr/>
          <a:lstStyle/>
          <a:p>
            <a:pPr>
              <a:defRPr sz="1100">
                <a:solidFill>
                  <a:srgbClr val="5F6B76"/>
                </a:solidFill>
              </a:defRPr>
            </a:pPr>
            <a:endParaRPr lang="es-CO"/>
          </a:p>
        </c:txPr>
        <c:crossAx val="-2128940872"/>
        <c:crosses val="autoZero"/>
        <c:crossBetween val="midCat"/>
        <c:majorUnit val="500"/>
      </c:valAx>
    </c:plotArea>
    <c:legend>
      <c:legendPos val="t"/>
      <c:overlay val="0"/>
      <c:txPr>
        <a:bodyPr/>
        <a:lstStyle/>
        <a:p>
          <a:pPr>
            <a:defRPr sz="1200">
              <a:solidFill>
                <a:srgbClr val="212529"/>
              </a:solidFill>
            </a:defRPr>
          </a:pPr>
          <a:endParaRPr lang="es-CO"/>
        </a:p>
      </c:txPr>
    </c:legend>
    <c:plotVisOnly val="1"/>
    <c:dispBlanksAs val="gap"/>
    <c:showDLblsOverMax val="0"/>
  </c:chart>
  <c:txPr>
    <a:bodyPr/>
    <a:lstStyle/>
    <a:p>
      <a:pPr>
        <a:defRPr sz="1100">
          <a:solidFill>
            <a:srgbClr val="5F6B76"/>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327463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Esta exposición presenta Jev, el primer modelo de la clase System One desarrollado por TypeSafe AI, y lo evalúa experimentalmente frente a un modelo de lenguaje de propósito general. Se describe qué es, cómo se interactúa con él y qué resultados se obtuvieron al medir su latencia, su concordancia con un LLM y la reproducibilidad de sus decisiones.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Jev pertenece a una clase de modelos que TypeSafe AI denomina System One, en referencia al Sistema 1 de Daniel Kahneman: el pensamiento rápido e intuitivo, frente al Sistema 2, lento y deliberado. A diferencia de un modelo de lenguaje, Jev no produce texto. Recibe un estado y un conjunto de preguntas con tipo declarado, y devuelve para cada una la respuesta más probable junto con su distribución de probabilidad.</a:t>
            </a:r>
          </a:p>
          <a:p>
            <a:endParaRPr/>
          </a:p>
          <a:p>
            <a:r>
              <a:t>Según el fabricante, tres elementos lo hacen posible: una arquitectura propia, un muestreador paralelo que produce todas las salidas en una sola consulta, sin generar token a token, y un método de entrenamiento llamado RLCD, orientado a que las probabilidades estén calibradas. Es un modelo probabilístico: TypeSafe declara que está diseñado para la consistencia de las decisiones, no para el determinismo estricto.</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diagrama muestra el contrato de una llamada. La entrada tiene dos partes: el estado, en este caso un mensaje de soporte redactado para la prueba, y un conjunto de preguntas con tipo declarado: una elección entre cuatro categorías, una pregunta binaria y una escala de urgencia de cuatro niveles.</a:t>
            </a:r>
          </a:p>
          <a:p>
            <a:endParaRPr/>
          </a:p>
          <a:p>
            <a:r>
              <a:t>El modelo evalúa las tres preguntas a la vez sobre el mismo estado y devuelve una respuesta por pregunta, siempre dentro del dominio declarado y con su probabilidad: reembolso con probabilidad 1, cliente molesto con 0,96 y urgencia alta con 0,75. La llamada completa tardó 217 milisegundos medidos desde el cliente.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interfaz admite tres tipos de pregunta. Choice es una clasificación multiclase: el usuario define hasta 255 etiquetas con su descripción y el modelo devuelve la más probable con la distribución completa. Noul es una decisión binaria: devuelve la probabilidad de que una afirmación sea cierta, y la decisión se toma con un umbral, en este trabajo 0,5. Score sitúa el estado en una escala ordinal de hasta diez niveles y devuelve el nivel esperado junto con la probabilidad de cada nivel.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diseño compara Jev con un modelo de lenguaje de propósito general sobre las mismas entradas. Se definieron cuatro casos que cubren los tres tipos de pregunta. Como referencia se usó deepseek-chat con temperatura cero y salida JSON, con una instrucción equivalente a las preguntas tipadas.</a:t>
            </a:r>
          </a:p>
          <a:p>
            <a:endParaRPr/>
          </a:p>
          <a:p>
            <a:r>
              <a:t>Se midieron tres propiedades: la latencia de extremo a extremo, que incluye la red; la concordancia entre las decisiones de ambos modelos, y la reproducibilidad, repitiendo exactamente la misma entrada.</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gráfico compara la latencia de extremo a extremo de ambos modelos en los cuatro casos, con las mismas entradas y las conexiones ya establecidas. En una ejecución por caso, Jev fue entre 2,2 y 4,2 veces más rápido; los cuatro casos suman 1,34 segundos frente a 4,48.</a:t>
            </a:r>
          </a:p>
          <a:p>
            <a:endParaRPr/>
          </a:p>
          <a:p>
            <a:r>
              <a:t>Como una sola ejecución puede verse afectada por la red, a la derecha se muestra la serie repetida del mensaje de soporte: la mediana de Jev es de 234 milisegundos, con percentil 95 de 270; la del LLM, de 846, con percentil 95 de 1.210. La razón entre medianas es de 3,6.</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 formularon 1, 10, 20 y 40 preguntas sobre la misma reseña en una sola llamada, alternando ambos modelos en tres rondas para que las condiciones de red fueran comparables.</a:t>
            </a:r>
          </a:p>
          <a:p>
            <a:endParaRPr/>
          </a:p>
          <a:p>
            <a:r>
              <a:t>La latencia de Jev permanece prácticamente constante, entre 201 y 229 milisegundos, porque todas las preguntas se evalúan en paralelo. La del LLM crece de 979 a 1.688 milisegundos, un 72 % más, porque debe generar una respuesta por cada pregunta. En consecuencia, la ventaja relativa de Jev aumenta con el número de preguntas: de 4,3 a 7,4 veces.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Para evaluar la estabilidad se repitió exactamente la misma entrada: 60 llamadas en cuatro series.</a:t>
            </a:r>
          </a:p>
          <a:p>
            <a:endParaRPr/>
          </a:p>
          <a:p>
            <a:r>
              <a:t>El resultado tiene dos niveles. En el nivel de la decisión, la reproducibilidad fue total: las 60 llamadas produjeron la misma decisión. En el nivel de las probabilidades hay una variación pequeña: en el mensaje de soporte, la probabilidad de urgencia alta osciló entre 0,74 y 0,82, lo que produjo 14 respuestas distintas en cada serie de 20. Esto es coherente con un modelo probabilístico y con lo que declara el fabricante: Jev busca la consistencia de las decisiones, no el determinismo estricto.</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concordancia mide si ambos modelos llegan a la misma decisión ante la misma entrada. De 59 decisiones coinciden 58, un 98,3 %. Los casos de soporte, enrutamiento y moderación coinciden por completo.</a:t>
            </a:r>
          </a:p>
          <a:p>
            <a:endParaRPr/>
          </a:p>
          <a:p>
            <a:r>
              <a:t>El único desacuerdo es sistemático y conviene analizarlo. Ante la pregunta de si el producto llegó dañado, Jev responde que sí con una probabilidad de entre 0,74 y 0,79, mientras que el LLM responde que no. El texto solo dice que la caja llegó abollada: la inferencia de Jev va más allá del texto. Concordar con un LLM, además, no equivale a acertar; medir la exactitud exigiría un conjunto etiquetado por personas.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ámbito natural de Jev son las decisiones cerradas y frecuentes dentro de un sistema de software: clasificar y enrutar solicitudes, moderar contenido, priorizar mediante escalas, decidir en bucles de tiempo real y verificar la salida de un modelo de lenguaje antes de ejecutarla.</a:t>
            </a:r>
          </a:p>
          <a:p>
            <a:endParaRPr/>
          </a:p>
          <a:p>
            <a:r>
              <a:t>Las limitaciones son igualmente claras: solo responde preguntas cerradas, su dominio está acotado y, según el fabricante, rinde mejor en inglés. Además, este estudio tiene un alcance limitado: cuatro casos redactados para la prueba y 59 decisiones.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 síntesis, para decisiones cerradas Jev ofrece una latencia de unos 230 milisegundos, entre 3,6 y 7,4 veces menor que la del LLM de referencia y estable al añadir preguntas; coincide con el LLM en 58 de 59 decisiones, y sus decisiones se repiten en todas las llamadas idénticas, aunque las probabilidades varíen levemente.</a:t>
            </a:r>
          </a:p>
          <a:p>
            <a:endParaRPr/>
          </a:p>
          <a:p>
            <a:r>
              <a:t>La conclusión arquitectónica es una división del trabajo: el modelo de decisión resuelve los juicios cerrados y frecuentes, y el modelo de lenguaje queda para lo que exige generar o razonar en abierto.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Las cifras de latencia, concordancia y reproducibilidad son mediciones propias realizadas con los scripts de la demostración. La descripción del modelo procede de la documentación pública de TypeSafe AI.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ctrTitle" hasCustomPrompt="1"/>
          </p:nvPr>
        </p:nvSpPr>
        <p:spPr>
          <a:xfrm>
            <a:off x="1524000" y="2779111"/>
            <a:ext cx="9144000" cy="797243"/>
          </a:xfrm>
        </p:spPr>
        <p:txBody>
          <a:bodyPr anchor="t"/>
          <a:lstStyle>
            <a:lvl1pPr algn="ctr">
              <a:defRPr sz="6000" b="1" baseline="0">
                <a:solidFill>
                  <a:schemeClr val="tx2"/>
                </a:solidFill>
              </a:defRPr>
            </a:lvl1pPr>
          </a:lstStyle>
          <a:p>
            <a:r>
              <a:rPr lang="es-ES" dirty="0"/>
              <a:t>Titulo de la presentación</a:t>
            </a:r>
            <a:endParaRPr lang="es-CO" dirty="0"/>
          </a:p>
        </p:txBody>
      </p:sp>
      <p:sp>
        <p:nvSpPr>
          <p:cNvPr id="3" name="Subtítulo 2"/>
          <p:cNvSpPr>
            <a:spLocks noGrp="1"/>
          </p:cNvSpPr>
          <p:nvPr>
            <p:ph type="subTitle" idx="1" hasCustomPrompt="1"/>
          </p:nvPr>
        </p:nvSpPr>
        <p:spPr>
          <a:xfrm>
            <a:off x="1524000" y="3850199"/>
            <a:ext cx="9144000" cy="431800"/>
          </a:xfrm>
        </p:spPr>
        <p:txBody>
          <a:bodyPr anchor="t"/>
          <a:lstStyle>
            <a:lvl1pPr marL="0" indent="0" algn="l">
              <a:buNone/>
              <a:defRPr sz="2400" b="0">
                <a:solidFill>
                  <a:schemeClr val="tx1">
                    <a:lumMod val="65000"/>
                    <a:lumOff val="3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dirty="0"/>
              <a:t>Ponente: Nombre del ponente</a:t>
            </a:r>
            <a:endParaRPr lang="es-CO" dirty="0"/>
          </a:p>
        </p:txBody>
      </p:sp>
    </p:spTree>
    <p:extLst>
      <p:ext uri="{BB962C8B-B14F-4D97-AF65-F5344CB8AC3E}">
        <p14:creationId xmlns:p14="http://schemas.microsoft.com/office/powerpoint/2010/main" val="24242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588383" y="1857375"/>
            <a:ext cx="11015233" cy="965200"/>
          </a:xfrm>
        </p:spPr>
        <p:txBody>
          <a:bodyPr>
            <a:noAutofit/>
          </a:bodyPr>
          <a:lstStyle>
            <a:lvl1pPr algn="ctr">
              <a:defRPr sz="4000"/>
            </a:lvl1pPr>
          </a:lstStyle>
          <a:p>
            <a:r>
              <a:rPr lang="es-ES" dirty="0"/>
              <a:t>Haga clic para modificar el estilo de título del patrón</a:t>
            </a:r>
            <a:endParaRPr lang="es-CO" dirty="0"/>
          </a:p>
        </p:txBody>
      </p:sp>
      <p:sp>
        <p:nvSpPr>
          <p:cNvPr id="3" name="Marcador de contenido 2"/>
          <p:cNvSpPr>
            <a:spLocks noGrp="1"/>
          </p:cNvSpPr>
          <p:nvPr>
            <p:ph idx="1"/>
          </p:nvPr>
        </p:nvSpPr>
        <p:spPr>
          <a:xfrm>
            <a:off x="588382" y="3096896"/>
            <a:ext cx="5435899" cy="3180079"/>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7" name="Marcador de contenido 2"/>
          <p:cNvSpPr>
            <a:spLocks noGrp="1"/>
          </p:cNvSpPr>
          <p:nvPr>
            <p:ph idx="13"/>
          </p:nvPr>
        </p:nvSpPr>
        <p:spPr>
          <a:xfrm>
            <a:off x="6320416" y="3096895"/>
            <a:ext cx="5283200" cy="3180078"/>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Tree>
    <p:extLst>
      <p:ext uri="{BB962C8B-B14F-4D97-AF65-F5344CB8AC3E}">
        <p14:creationId xmlns:p14="http://schemas.microsoft.com/office/powerpoint/2010/main" val="5345935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Dos objeto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38225" y="1233805"/>
            <a:ext cx="10115551" cy="1325563"/>
          </a:xfrm>
        </p:spPr>
        <p:txBody>
          <a:bodyPr>
            <a:normAutofit/>
          </a:bodyPr>
          <a:lstStyle>
            <a:lvl1pPr algn="ctr">
              <a:defRPr sz="4000"/>
            </a:lvl1pPr>
          </a:lstStyle>
          <a:p>
            <a:r>
              <a:rPr lang="es-ES"/>
              <a:t>Haga clic para modificar el estilo de título del patrón</a:t>
            </a:r>
            <a:endParaRPr lang="es-CO" dirty="0"/>
          </a:p>
        </p:txBody>
      </p:sp>
      <p:sp>
        <p:nvSpPr>
          <p:cNvPr id="3" name="Marcador de contenido 2"/>
          <p:cNvSpPr>
            <a:spLocks noGrp="1"/>
          </p:cNvSpPr>
          <p:nvPr>
            <p:ph sz="half" idx="1"/>
          </p:nvPr>
        </p:nvSpPr>
        <p:spPr>
          <a:xfrm>
            <a:off x="1038225" y="2743199"/>
            <a:ext cx="5553075" cy="3438526"/>
          </a:xfrm>
        </p:spPr>
        <p:txBody>
          <a:bodyPr/>
          <a:lstStyle/>
          <a:p>
            <a:pPr lvl="0"/>
            <a:r>
              <a:rPr lang="es-ES" dirty="0"/>
              <a:t>Editar el estilo de texto del patrón</a:t>
            </a:r>
          </a:p>
          <a:p>
            <a:pPr lvl="1"/>
            <a:r>
              <a:rPr lang="es-ES" dirty="0"/>
              <a:t>Segundo nivel</a:t>
            </a:r>
          </a:p>
          <a:p>
            <a:pPr lvl="2"/>
            <a:r>
              <a:rPr lang="es-ES" dirty="0"/>
              <a:t>Tercer nivel</a:t>
            </a:r>
          </a:p>
          <a:p>
            <a:pPr lvl="3"/>
            <a:r>
              <a:rPr lang="es-ES" dirty="0"/>
              <a:t>Cuarto nivel</a:t>
            </a:r>
          </a:p>
          <a:p>
            <a:pPr lvl="4"/>
            <a:r>
              <a:rPr lang="es-ES" dirty="0"/>
              <a:t>Quinto nivel</a:t>
            </a:r>
            <a:endParaRPr lang="es-CO" dirty="0"/>
          </a:p>
        </p:txBody>
      </p:sp>
      <p:sp>
        <p:nvSpPr>
          <p:cNvPr id="4" name="Marcador de contenido 3"/>
          <p:cNvSpPr>
            <a:spLocks noGrp="1"/>
          </p:cNvSpPr>
          <p:nvPr>
            <p:ph sz="half" idx="2"/>
          </p:nvPr>
        </p:nvSpPr>
        <p:spPr>
          <a:xfrm>
            <a:off x="6838950" y="2743199"/>
            <a:ext cx="4314825" cy="3438525"/>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Tree>
    <p:extLst>
      <p:ext uri="{BB962C8B-B14F-4D97-AF65-F5344CB8AC3E}">
        <p14:creationId xmlns:p14="http://schemas.microsoft.com/office/powerpoint/2010/main" val="1288959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Patron Institucional UNIAJS">
    <p:spTree>
      <p:nvGrpSpPr>
        <p:cNvPr id="1" name=""/>
        <p:cNvGrpSpPr/>
        <p:nvPr/>
      </p:nvGrpSpPr>
      <p:grpSpPr>
        <a:xfrm>
          <a:off x="0" y="0"/>
          <a:ext cx="0" cy="0"/>
          <a:chOff x="0" y="0"/>
          <a:chExt cx="0" cy="0"/>
        </a:xfrm>
      </p:grpSpPr>
      <p:sp>
        <p:nvSpPr>
          <p:cNvPr id="2" name="Título 1"/>
          <p:cNvSpPr>
            <a:spLocks noGrp="1"/>
          </p:cNvSpPr>
          <p:nvPr>
            <p:ph type="title"/>
          </p:nvPr>
        </p:nvSpPr>
        <p:spPr>
          <a:xfrm>
            <a:off x="726440" y="2039939"/>
            <a:ext cx="10739120" cy="1510982"/>
          </a:xfrm>
        </p:spPr>
        <p:txBody>
          <a:bodyPr anchor="b">
            <a:normAutofit/>
          </a:bodyPr>
          <a:lstStyle>
            <a:lvl1pPr algn="ctr">
              <a:defRPr sz="5000"/>
            </a:lvl1pPr>
          </a:lstStyle>
          <a:p>
            <a:r>
              <a:rPr lang="es-ES"/>
              <a:t>Haga clic para modificar el estilo de título del patrón</a:t>
            </a:r>
            <a:endParaRPr lang="es-CO" dirty="0"/>
          </a:p>
        </p:txBody>
      </p:sp>
      <p:sp>
        <p:nvSpPr>
          <p:cNvPr id="3" name="Marcador de texto 2"/>
          <p:cNvSpPr>
            <a:spLocks noGrp="1"/>
          </p:cNvSpPr>
          <p:nvPr>
            <p:ph type="body" idx="1"/>
          </p:nvPr>
        </p:nvSpPr>
        <p:spPr>
          <a:xfrm>
            <a:off x="726439" y="3886406"/>
            <a:ext cx="10739119" cy="1544320"/>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Tree>
    <p:extLst>
      <p:ext uri="{BB962C8B-B14F-4D97-AF65-F5344CB8AC3E}">
        <p14:creationId xmlns:p14="http://schemas.microsoft.com/office/powerpoint/2010/main" val="1546413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1019174" y="1355724"/>
            <a:ext cx="10182226" cy="738572"/>
          </a:xfrm>
        </p:spPr>
        <p:txBody>
          <a:bodyPr>
            <a:normAutofit/>
          </a:bodyPr>
          <a:lstStyle>
            <a:lvl1pPr algn="ctr">
              <a:defRPr sz="3600"/>
            </a:lvl1pPr>
          </a:lstStyle>
          <a:p>
            <a:r>
              <a:rPr lang="es-ES" dirty="0"/>
              <a:t>Haga clic para modificar el estilo de título del patrón</a:t>
            </a:r>
            <a:endParaRPr lang="es-CO" dirty="0"/>
          </a:p>
        </p:txBody>
      </p:sp>
      <p:sp>
        <p:nvSpPr>
          <p:cNvPr id="3" name="Marcador de texto 2"/>
          <p:cNvSpPr>
            <a:spLocks noGrp="1"/>
          </p:cNvSpPr>
          <p:nvPr>
            <p:ph type="body" idx="1"/>
          </p:nvPr>
        </p:nvSpPr>
        <p:spPr>
          <a:xfrm>
            <a:off x="1019174" y="2288064"/>
            <a:ext cx="5584826" cy="48291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1019174" y="2937668"/>
            <a:ext cx="5584825" cy="316785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1" name="Marcador de posición de imagen 10"/>
          <p:cNvSpPr>
            <a:spLocks noGrp="1"/>
          </p:cNvSpPr>
          <p:nvPr>
            <p:ph type="pic" sz="quarter" idx="13"/>
          </p:nvPr>
        </p:nvSpPr>
        <p:spPr>
          <a:xfrm>
            <a:off x="6766560" y="2288063"/>
            <a:ext cx="4434840" cy="3817461"/>
          </a:xfrm>
        </p:spPr>
        <p:txBody>
          <a:bodyPr/>
          <a:lstStyle/>
          <a:p>
            <a:r>
              <a:rPr lang="es-ES"/>
              <a:t>Haga clic en el icono para agregar una imagen</a:t>
            </a:r>
            <a:endParaRPr lang="es-CO"/>
          </a:p>
        </p:txBody>
      </p:sp>
    </p:spTree>
    <p:extLst>
      <p:ext uri="{BB962C8B-B14F-4D97-AF65-F5344CB8AC3E}">
        <p14:creationId xmlns:p14="http://schemas.microsoft.com/office/powerpoint/2010/main" val="3710148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ació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19174" y="1717674"/>
            <a:ext cx="10182226" cy="738572"/>
          </a:xfrm>
        </p:spPr>
        <p:txBody>
          <a:bodyPr>
            <a:normAutofit/>
          </a:bodyPr>
          <a:lstStyle>
            <a:lvl1pPr algn="ctr">
              <a:defRPr sz="3600"/>
            </a:lvl1pPr>
          </a:lstStyle>
          <a:p>
            <a:r>
              <a:rPr lang="es-ES" dirty="0"/>
              <a:t>Haga clic para modificar el estilo de título del patrón</a:t>
            </a:r>
            <a:endParaRPr lang="es-CO" dirty="0"/>
          </a:p>
        </p:txBody>
      </p:sp>
      <p:sp>
        <p:nvSpPr>
          <p:cNvPr id="3" name="Marcador de texto 2"/>
          <p:cNvSpPr>
            <a:spLocks noGrp="1"/>
          </p:cNvSpPr>
          <p:nvPr>
            <p:ph type="body" idx="1"/>
          </p:nvPr>
        </p:nvSpPr>
        <p:spPr>
          <a:xfrm>
            <a:off x="5616574" y="2650014"/>
            <a:ext cx="5584826" cy="48291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5616574" y="3299618"/>
            <a:ext cx="5584825" cy="316785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11" name="Marcador de posición de imagen 10"/>
          <p:cNvSpPr>
            <a:spLocks noGrp="1"/>
          </p:cNvSpPr>
          <p:nvPr>
            <p:ph type="pic" sz="quarter" idx="13"/>
          </p:nvPr>
        </p:nvSpPr>
        <p:spPr>
          <a:xfrm>
            <a:off x="1009648" y="2650013"/>
            <a:ext cx="4434840" cy="3817461"/>
          </a:xfrm>
        </p:spPr>
        <p:txBody>
          <a:bodyPr/>
          <a:lstStyle/>
          <a:p>
            <a:r>
              <a:rPr lang="es-ES"/>
              <a:t>Haga clic en el icono para agregar una imagen</a:t>
            </a:r>
            <a:endParaRPr lang="es-CO"/>
          </a:p>
        </p:txBody>
      </p:sp>
    </p:spTree>
    <p:extLst>
      <p:ext uri="{BB962C8B-B14F-4D97-AF65-F5344CB8AC3E}">
        <p14:creationId xmlns:p14="http://schemas.microsoft.com/office/powerpoint/2010/main" val="15767630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1129505" y="1178560"/>
            <a:ext cx="9932990" cy="1366202"/>
          </a:xfrm>
        </p:spPr>
        <p:txBody>
          <a:bodyPr anchor="t">
            <a:normAutofit/>
          </a:bodyPr>
          <a:lstStyle>
            <a:lvl1pPr algn="ctr">
              <a:defRPr sz="4000"/>
            </a:lvl1pPr>
          </a:lstStyle>
          <a:p>
            <a:r>
              <a:rPr lang="es-ES" dirty="0"/>
              <a:t>Haga clic para modificar el estilo de título del patrón</a:t>
            </a:r>
            <a:endParaRPr lang="es-CO" dirty="0"/>
          </a:p>
        </p:txBody>
      </p:sp>
    </p:spTree>
    <p:extLst>
      <p:ext uri="{BB962C8B-B14F-4D97-AF65-F5344CB8AC3E}">
        <p14:creationId xmlns:p14="http://schemas.microsoft.com/office/powerpoint/2010/main" val="3763113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54961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Contenido con t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9000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ntenido con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5943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Diapositiva de títul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86278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p:cNvSpPr>
            <a:spLocks noGrp="1"/>
          </p:cNvSpPr>
          <p:nvPr>
            <p:ph type="dt" sz="half" idx="2"/>
          </p:nvPr>
        </p:nvSpPr>
        <p:spPr>
          <a:xfrm>
            <a:off x="7553960" y="6356350"/>
            <a:ext cx="2743200" cy="365125"/>
          </a:xfrm>
          <a:prstGeom prst="rect">
            <a:avLst/>
          </a:prstGeom>
        </p:spPr>
        <p:txBody>
          <a:bodyPr vert="horz" lIns="91440" tIns="45720" rIns="91440" bIns="45720" rtlCol="0" anchor="ctr"/>
          <a:lstStyle>
            <a:lvl1pPr algn="ctr">
              <a:defRPr sz="1200">
                <a:solidFill>
                  <a:schemeClr val="bg1"/>
                </a:solidFill>
              </a:defRPr>
            </a:lvl1pPr>
          </a:lstStyle>
          <a:p>
            <a:fld id="{988A0FBD-AE32-4435-B9A2-6284BD79D0EE}" type="datetimeFigureOut">
              <a:rPr lang="es-CO" smtClean="0"/>
              <a:pPr/>
              <a:t>30/09/2026</a:t>
            </a:fld>
            <a:endParaRPr lang="es-CO" dirty="0"/>
          </a:p>
        </p:txBody>
      </p:sp>
      <p:sp>
        <p:nvSpPr>
          <p:cNvPr id="6" name="Marcador de número de diapositiva 5"/>
          <p:cNvSpPr>
            <a:spLocks noGrp="1"/>
          </p:cNvSpPr>
          <p:nvPr>
            <p:ph type="sldNum" sz="quarter" idx="4"/>
          </p:nvPr>
        </p:nvSpPr>
        <p:spPr>
          <a:xfrm>
            <a:off x="10576560" y="6356350"/>
            <a:ext cx="777240" cy="365125"/>
          </a:xfrm>
          <a:prstGeom prst="rect">
            <a:avLst/>
          </a:prstGeom>
        </p:spPr>
        <p:txBody>
          <a:bodyPr vert="horz" lIns="91440" tIns="45720" rIns="91440" bIns="45720" rtlCol="0" anchor="ctr"/>
          <a:lstStyle>
            <a:lvl1pPr algn="r">
              <a:defRPr sz="1200">
                <a:solidFill>
                  <a:schemeClr val="bg1"/>
                </a:solidFill>
              </a:defRPr>
            </a:lvl1pPr>
          </a:lstStyle>
          <a:p>
            <a:fld id="{7A9A1E8D-3137-4A21-9024-7640507147B8}" type="slidenum">
              <a:rPr lang="es-CO" smtClean="0"/>
              <a:pPr/>
              <a:t>‹Nº›</a:t>
            </a:fld>
            <a:endParaRPr lang="es-CO" dirty="0"/>
          </a:p>
        </p:txBody>
      </p:sp>
    </p:spTree>
    <p:extLst>
      <p:ext uri="{BB962C8B-B14F-4D97-AF65-F5344CB8AC3E}">
        <p14:creationId xmlns:p14="http://schemas.microsoft.com/office/powerpoint/2010/main" val="15051265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1" r:id="rId4"/>
    <p:sldLayoutId id="2147483653" r:id="rId5"/>
    <p:sldLayoutId id="2147483665" r:id="rId6"/>
    <p:sldLayoutId id="2147483656" r:id="rId7"/>
    <p:sldLayoutId id="2147483662" r:id="rId8"/>
    <p:sldLayoutId id="2147483663" r:id="rId9"/>
    <p:sldLayoutId id="2147483664"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26280" y="960120"/>
            <a:ext cx="7223760" cy="1737360"/>
          </a:xfrm>
          <a:prstGeom prst="rect">
            <a:avLst/>
          </a:prstGeom>
          <a:noFill/>
        </p:spPr>
        <p:txBody>
          <a:bodyPr wrap="square" lIns="0" tIns="0" rIns="0" bIns="0" anchor="ctr">
            <a:spAutoFit/>
          </a:bodyPr>
          <a:lstStyle/>
          <a:p>
            <a:pPr algn="ctr"/>
            <a:r>
              <a:rPr sz="11000" b="1" i="0">
                <a:solidFill>
                  <a:srgbClr val="1B3660"/>
                </a:solidFill>
                <a:latin typeface="Times New Roman"/>
              </a:rPr>
              <a:t>Jev</a:t>
            </a:r>
          </a:p>
        </p:txBody>
      </p:sp>
      <p:sp>
        <p:nvSpPr>
          <p:cNvPr id="3" name="TextBox 2"/>
          <p:cNvSpPr txBox="1"/>
          <p:nvPr/>
        </p:nvSpPr>
        <p:spPr>
          <a:xfrm>
            <a:off x="4526280" y="3154680"/>
            <a:ext cx="7223760" cy="365760"/>
          </a:xfrm>
          <a:prstGeom prst="rect">
            <a:avLst/>
          </a:prstGeom>
          <a:noFill/>
        </p:spPr>
        <p:txBody>
          <a:bodyPr wrap="square" lIns="0" tIns="0" rIns="0" bIns="0" anchor="t">
            <a:spAutoFit/>
          </a:bodyPr>
          <a:lstStyle/>
          <a:p>
            <a:pPr algn="ctr"/>
            <a:r>
              <a:rPr sz="1600" b="0" i="0">
                <a:solidFill>
                  <a:srgbClr val="5F6B76"/>
                </a:solidFill>
                <a:latin typeface="Times New Roman"/>
              </a:rPr>
              <a:t>Alumno</a:t>
            </a:r>
          </a:p>
        </p:txBody>
      </p:sp>
      <p:sp>
        <p:nvSpPr>
          <p:cNvPr id="4" name="TextBox 3"/>
          <p:cNvSpPr txBox="1"/>
          <p:nvPr/>
        </p:nvSpPr>
        <p:spPr>
          <a:xfrm>
            <a:off x="4526280" y="3520440"/>
            <a:ext cx="7223760" cy="502920"/>
          </a:xfrm>
          <a:prstGeom prst="rect">
            <a:avLst/>
          </a:prstGeom>
          <a:noFill/>
        </p:spPr>
        <p:txBody>
          <a:bodyPr wrap="square" lIns="0" tIns="0" rIns="0" bIns="0" anchor="t">
            <a:spAutoFit/>
          </a:bodyPr>
          <a:lstStyle/>
          <a:p>
            <a:pPr algn="ctr"/>
            <a:r>
              <a:rPr sz="2600" b="1" i="0">
                <a:solidFill>
                  <a:srgbClr val="212529"/>
                </a:solidFill>
                <a:latin typeface="Times New Roman"/>
              </a:rPr>
              <a:t>Sharith Javier Manjarrez Pacheco</a:t>
            </a:r>
          </a:p>
        </p:txBody>
      </p:sp>
      <p:sp>
        <p:nvSpPr>
          <p:cNvPr id="5" name="TextBox 4"/>
          <p:cNvSpPr txBox="1"/>
          <p:nvPr/>
        </p:nvSpPr>
        <p:spPr>
          <a:xfrm>
            <a:off x="4526280" y="4251960"/>
            <a:ext cx="7223760" cy="457200"/>
          </a:xfrm>
          <a:prstGeom prst="rect">
            <a:avLst/>
          </a:prstGeom>
          <a:noFill/>
        </p:spPr>
        <p:txBody>
          <a:bodyPr wrap="square" lIns="0" tIns="0" rIns="0" bIns="0" anchor="t">
            <a:spAutoFit/>
          </a:bodyPr>
          <a:lstStyle/>
          <a:p>
            <a:pPr algn="ctr"/>
            <a:r>
              <a:rPr sz="2000" b="0" i="0" dirty="0">
                <a:solidFill>
                  <a:srgbClr val="212529"/>
                </a:solidFill>
                <a:latin typeface="Times New Roman"/>
              </a:rPr>
              <a:t>Corporación </a:t>
            </a:r>
            <a:r>
              <a:rPr sz="2000" b="0" i="0" dirty="0" err="1">
                <a:solidFill>
                  <a:srgbClr val="212529"/>
                </a:solidFill>
                <a:latin typeface="Times New Roman"/>
              </a:rPr>
              <a:t>Universitaria</a:t>
            </a:r>
            <a:r>
              <a:rPr sz="2000" b="0" i="0" dirty="0">
                <a:solidFill>
                  <a:srgbClr val="212529"/>
                </a:solidFill>
                <a:latin typeface="Times New Roman"/>
              </a:rPr>
              <a:t> Antonio José de Sucre</a:t>
            </a:r>
          </a:p>
        </p:txBody>
      </p:sp>
      <p:sp>
        <p:nvSpPr>
          <p:cNvPr id="7" name="TextBox 4">
            <a:extLst>
              <a:ext uri="{FF2B5EF4-FFF2-40B4-BE49-F238E27FC236}">
                <a16:creationId xmlns:a16="http://schemas.microsoft.com/office/drawing/2014/main" id="{CD4B46A6-59FB-897A-4226-35F94D583006}"/>
              </a:ext>
            </a:extLst>
          </p:cNvPr>
          <p:cNvSpPr txBox="1"/>
          <p:nvPr/>
        </p:nvSpPr>
        <p:spPr>
          <a:xfrm>
            <a:off x="6844146" y="4937760"/>
            <a:ext cx="3150524" cy="615553"/>
          </a:xfrm>
          <a:prstGeom prst="rect">
            <a:avLst/>
          </a:prstGeom>
          <a:noFill/>
        </p:spPr>
        <p:txBody>
          <a:bodyPr wrap="square" lIns="0" tIns="0" rIns="0" bIns="0" anchor="t">
            <a:spAutoFit/>
          </a:bodyPr>
          <a:lstStyle/>
          <a:p>
            <a:pPr indent="0" algn="l">
              <a:buNone/>
            </a:pPr>
            <a:r>
              <a:rPr lang="es-ES" sz="2000" i="0" dirty="0">
                <a:solidFill>
                  <a:srgbClr val="212529"/>
                </a:solidFill>
                <a:latin typeface="custom_heading_font"/>
              </a:rPr>
              <a:t>Profesor</a:t>
            </a:r>
            <a:r>
              <a:rPr lang="es-CO" sz="2000" i="0" dirty="0">
                <a:solidFill>
                  <a:srgbClr val="555555"/>
                </a:solidFill>
                <a:effectLst/>
                <a:latin typeface="custom_heading_font"/>
              </a:rPr>
              <a:t>Jaider Reyes Herazo</a:t>
            </a:r>
          </a:p>
          <a:p>
            <a:pPr algn="ctr"/>
            <a:endParaRPr sz="2000" b="0" i="0" dirty="0">
              <a:solidFill>
                <a:srgbClr val="212529"/>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¿Qué es Jev?</a:t>
            </a:r>
          </a:p>
        </p:txBody>
      </p:sp>
      <p:sp>
        <p:nvSpPr>
          <p:cNvPr id="3" name="TextBox 2"/>
          <p:cNvSpPr txBox="1"/>
          <p:nvPr/>
        </p:nvSpPr>
        <p:spPr>
          <a:xfrm>
            <a:off x="548640" y="1600200"/>
            <a:ext cx="5760720" cy="2148840"/>
          </a:xfrm>
          <a:prstGeom prst="rect">
            <a:avLst/>
          </a:prstGeom>
          <a:noFill/>
        </p:spPr>
        <p:txBody>
          <a:bodyPr wrap="square" lIns="0" tIns="0" rIns="0" bIns="0" anchor="t">
            <a:spAutoFit/>
          </a:bodyPr>
          <a:lstStyle/>
          <a:p>
            <a:pPr algn="l">
              <a:lnSpc>
                <a:spcPct val="110000"/>
              </a:lnSpc>
            </a:pPr>
            <a:r>
              <a:rPr sz="1800" b="1" i="0">
                <a:solidFill>
                  <a:srgbClr val="212529"/>
                </a:solidFill>
                <a:latin typeface="Arial"/>
              </a:rPr>
              <a:t>Jev</a:t>
            </a:r>
            <a:r>
              <a:rPr sz="1800" b="0" i="0">
                <a:solidFill>
                  <a:srgbClr val="212529"/>
                </a:solidFill>
                <a:latin typeface="Arial"/>
              </a:rPr>
              <a:t> es el primer modelo de la clase </a:t>
            </a:r>
            <a:r>
              <a:rPr sz="1800" b="0" i="1">
                <a:solidFill>
                  <a:srgbClr val="212529"/>
                </a:solidFill>
                <a:latin typeface="Arial"/>
              </a:rPr>
              <a:t>System One</a:t>
            </a:r>
            <a:r>
              <a:rPr sz="1800" b="0" i="0">
                <a:solidFill>
                  <a:srgbClr val="212529"/>
                </a:solidFill>
                <a:latin typeface="Arial"/>
              </a:rPr>
              <a:t>, desarrollado por TypeSafe AI: un </a:t>
            </a:r>
            <a:r>
              <a:rPr sz="1800" b="1" i="0">
                <a:solidFill>
                  <a:srgbClr val="212529"/>
                </a:solidFill>
                <a:latin typeface="Arial"/>
              </a:rPr>
              <a:t>modelo probabilístico de decisión</a:t>
            </a:r>
            <a:r>
              <a:rPr sz="1800" b="0" i="0">
                <a:solidFill>
                  <a:srgbClr val="212529"/>
                </a:solidFill>
                <a:latin typeface="Arial"/>
              </a:rPr>
              <a:t>. Dado un estado —texto o JSON— y un conjunto de preguntas tipadas, devuelve para cada pregunta una respuesta dentro del dominio declarado y su distribución de probabilidad, en cientos de milisegundos.</a:t>
            </a:r>
          </a:p>
        </p:txBody>
      </p:sp>
      <p:sp>
        <p:nvSpPr>
          <p:cNvPr id="4" name="TextBox 3"/>
          <p:cNvSpPr txBox="1"/>
          <p:nvPr/>
        </p:nvSpPr>
        <p:spPr>
          <a:xfrm>
            <a:off x="548640" y="3977639"/>
            <a:ext cx="5760720" cy="2011680"/>
          </a:xfrm>
          <a:prstGeom prst="rect">
            <a:avLst/>
          </a:prstGeom>
          <a:noFill/>
        </p:spPr>
        <p:txBody>
          <a:bodyPr wrap="square" lIns="0" tIns="0" rIns="0" bIns="0" anchor="t">
            <a:spAutoFit/>
          </a:bodyPr>
          <a:lstStyle/>
          <a:p>
            <a:pPr marL="256032" indent="-256032" algn="l">
              <a:spcAft>
                <a:spcPts val="800"/>
              </a:spcAft>
              <a:buClr>
                <a:srgbClr val="4376B9"/>
              </a:buClr>
              <a:buFont typeface="Arial"/>
              <a:buChar char="•"/>
            </a:pPr>
            <a:r>
              <a:rPr sz="1600" b="0" i="0">
                <a:solidFill>
                  <a:srgbClr val="212529"/>
                </a:solidFill>
                <a:latin typeface="Arial"/>
              </a:rPr>
              <a:t>No genera texto: no redacta, no programa ni explica su razonamiento.</a:t>
            </a:r>
          </a:p>
          <a:p>
            <a:pPr marL="256032" indent="-256032" algn="l">
              <a:spcAft>
                <a:spcPts val="800"/>
              </a:spcAft>
              <a:buClr>
                <a:srgbClr val="4376B9"/>
              </a:buClr>
              <a:buFont typeface="Arial"/>
              <a:buChar char="•"/>
            </a:pPr>
            <a:r>
              <a:rPr sz="1600" b="0" i="0">
                <a:solidFill>
                  <a:srgbClr val="212529"/>
                </a:solidFill>
                <a:latin typeface="Arial"/>
              </a:rPr>
              <a:t>Evalúa en paralelo todas las preguntas de una petición sobre el mismo estado.</a:t>
            </a:r>
          </a:p>
          <a:p>
            <a:pPr marL="256032" indent="-256032" algn="l">
              <a:spcAft>
                <a:spcPts val="800"/>
              </a:spcAft>
              <a:buClr>
                <a:srgbClr val="4376B9"/>
              </a:buClr>
              <a:buFont typeface="Arial"/>
              <a:buChar char="•"/>
            </a:pPr>
            <a:r>
              <a:rPr sz="1600" b="0" i="0">
                <a:solidFill>
                  <a:srgbClr val="212529"/>
                </a:solidFill>
                <a:latin typeface="Arial"/>
              </a:rPr>
              <a:t>La forma de la respuesta está garantizada por construcción; su acierto se expresa como probabilidad.</a:t>
            </a:r>
          </a:p>
        </p:txBody>
      </p:sp>
      <p:sp>
        <p:nvSpPr>
          <p:cNvPr id="5" name="Rounded Rectangle 4"/>
          <p:cNvSpPr/>
          <p:nvPr/>
        </p:nvSpPr>
        <p:spPr>
          <a:xfrm>
            <a:off x="6629400" y="1600200"/>
            <a:ext cx="502920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85800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801368"/>
            <a:ext cx="4480560" cy="365760"/>
          </a:xfrm>
          <a:prstGeom prst="rect">
            <a:avLst/>
          </a:prstGeom>
          <a:noFill/>
        </p:spPr>
        <p:txBody>
          <a:bodyPr wrap="square" lIns="0" tIns="0" rIns="0" bIns="0" anchor="t">
            <a:spAutoFit/>
          </a:bodyPr>
          <a:lstStyle/>
          <a:p>
            <a:pPr algn="l"/>
            <a:r>
              <a:rPr sz="1800" b="1" i="0">
                <a:solidFill>
                  <a:srgbClr val="1B3660"/>
                </a:solidFill>
                <a:latin typeface="Times New Roman"/>
              </a:rPr>
              <a:t>Ficha técnica</a:t>
            </a:r>
          </a:p>
        </p:txBody>
      </p:sp>
      <p:sp>
        <p:nvSpPr>
          <p:cNvPr id="8" name="TextBox 7"/>
          <p:cNvSpPr txBox="1"/>
          <p:nvPr/>
        </p:nvSpPr>
        <p:spPr>
          <a:xfrm>
            <a:off x="6903720" y="2286000"/>
            <a:ext cx="1600200" cy="502920"/>
          </a:xfrm>
          <a:prstGeom prst="rect">
            <a:avLst/>
          </a:prstGeom>
          <a:noFill/>
        </p:spPr>
        <p:txBody>
          <a:bodyPr wrap="square" lIns="0" tIns="0" rIns="0" bIns="0" anchor="t">
            <a:spAutoFit/>
          </a:bodyPr>
          <a:lstStyle/>
          <a:p>
            <a:pPr algn="l"/>
            <a:r>
              <a:rPr sz="1200" b="1" i="0">
                <a:solidFill>
                  <a:srgbClr val="5F6B76"/>
                </a:solidFill>
                <a:latin typeface="Arial"/>
              </a:rPr>
              <a:t>Desarrollador</a:t>
            </a:r>
          </a:p>
        </p:txBody>
      </p:sp>
      <p:sp>
        <p:nvSpPr>
          <p:cNvPr id="9" name="TextBox 8"/>
          <p:cNvSpPr txBox="1"/>
          <p:nvPr/>
        </p:nvSpPr>
        <p:spPr>
          <a:xfrm>
            <a:off x="8503920" y="2286000"/>
            <a:ext cx="2880360" cy="502920"/>
          </a:xfrm>
          <a:prstGeom prst="rect">
            <a:avLst/>
          </a:prstGeom>
          <a:noFill/>
        </p:spPr>
        <p:txBody>
          <a:bodyPr wrap="square" lIns="0" tIns="0" rIns="0" bIns="0" anchor="t">
            <a:spAutoFit/>
          </a:bodyPr>
          <a:lstStyle/>
          <a:p>
            <a:pPr algn="l"/>
            <a:r>
              <a:rPr sz="1300" b="0" i="0">
                <a:solidFill>
                  <a:srgbClr val="212529"/>
                </a:solidFill>
                <a:latin typeface="Arial"/>
              </a:rPr>
              <a:t>TypeSafe AI, laboratorio fundado por Diogo Almeida</a:t>
            </a:r>
          </a:p>
        </p:txBody>
      </p:sp>
      <p:cxnSp>
        <p:nvCxnSpPr>
          <p:cNvPr id="10" name="Connector 9"/>
          <p:cNvCxnSpPr/>
          <p:nvPr/>
        </p:nvCxnSpPr>
        <p:spPr>
          <a:xfrm>
            <a:off x="6903720" y="2724912"/>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903720" y="2798064"/>
            <a:ext cx="1600200" cy="502920"/>
          </a:xfrm>
          <a:prstGeom prst="rect">
            <a:avLst/>
          </a:prstGeom>
          <a:noFill/>
        </p:spPr>
        <p:txBody>
          <a:bodyPr wrap="square" lIns="0" tIns="0" rIns="0" bIns="0" anchor="t">
            <a:spAutoFit/>
          </a:bodyPr>
          <a:lstStyle/>
          <a:p>
            <a:pPr algn="l"/>
            <a:r>
              <a:rPr sz="1200" b="1" i="0">
                <a:solidFill>
                  <a:srgbClr val="5F6B76"/>
                </a:solidFill>
                <a:latin typeface="Arial"/>
              </a:rPr>
              <a:t>Presentación</a:t>
            </a:r>
          </a:p>
        </p:txBody>
      </p:sp>
      <p:sp>
        <p:nvSpPr>
          <p:cNvPr id="12" name="TextBox 11"/>
          <p:cNvSpPr txBox="1"/>
          <p:nvPr/>
        </p:nvSpPr>
        <p:spPr>
          <a:xfrm>
            <a:off x="8503920" y="2798064"/>
            <a:ext cx="2880360" cy="502920"/>
          </a:xfrm>
          <a:prstGeom prst="rect">
            <a:avLst/>
          </a:prstGeom>
          <a:noFill/>
        </p:spPr>
        <p:txBody>
          <a:bodyPr wrap="square" lIns="0" tIns="0" rIns="0" bIns="0" anchor="t">
            <a:spAutoFit/>
          </a:bodyPr>
          <a:lstStyle/>
          <a:p>
            <a:pPr algn="l"/>
            <a:r>
              <a:rPr sz="1300" b="0" i="0">
                <a:solidFill>
                  <a:srgbClr val="212529"/>
                </a:solidFill>
                <a:latin typeface="Arial"/>
              </a:rPr>
              <a:t>15 de septiembre de 2026, en acceso anticipado</a:t>
            </a:r>
          </a:p>
        </p:txBody>
      </p:sp>
      <p:cxnSp>
        <p:nvCxnSpPr>
          <p:cNvPr id="13" name="Connector 12"/>
          <p:cNvCxnSpPr/>
          <p:nvPr/>
        </p:nvCxnSpPr>
        <p:spPr>
          <a:xfrm>
            <a:off x="6903720" y="3236976"/>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903720" y="3310128"/>
            <a:ext cx="1600200" cy="502920"/>
          </a:xfrm>
          <a:prstGeom prst="rect">
            <a:avLst/>
          </a:prstGeom>
          <a:noFill/>
        </p:spPr>
        <p:txBody>
          <a:bodyPr wrap="square" lIns="0" tIns="0" rIns="0" bIns="0" anchor="t">
            <a:spAutoFit/>
          </a:bodyPr>
          <a:lstStyle/>
          <a:p>
            <a:pPr algn="l"/>
            <a:r>
              <a:rPr sz="1200" b="1" i="0">
                <a:solidFill>
                  <a:srgbClr val="5F6B76"/>
                </a:solidFill>
                <a:latin typeface="Arial"/>
              </a:rPr>
              <a:t>Versión evaluada</a:t>
            </a:r>
          </a:p>
        </p:txBody>
      </p:sp>
      <p:sp>
        <p:nvSpPr>
          <p:cNvPr id="15" name="TextBox 14"/>
          <p:cNvSpPr txBox="1"/>
          <p:nvPr/>
        </p:nvSpPr>
        <p:spPr>
          <a:xfrm>
            <a:off x="8503920" y="3310128"/>
            <a:ext cx="2880360" cy="502920"/>
          </a:xfrm>
          <a:prstGeom prst="rect">
            <a:avLst/>
          </a:prstGeom>
          <a:noFill/>
        </p:spPr>
        <p:txBody>
          <a:bodyPr wrap="square" lIns="0" tIns="0" rIns="0" bIns="0" anchor="t">
            <a:spAutoFit/>
          </a:bodyPr>
          <a:lstStyle/>
          <a:p>
            <a:pPr algn="l"/>
            <a:r>
              <a:rPr sz="1300" b="0" i="0">
                <a:solidFill>
                  <a:srgbClr val="212529"/>
                </a:solidFill>
                <a:latin typeface="Arial"/>
              </a:rPr>
              <a:t>jev-1.13.0 (alias jev-latest)</a:t>
            </a:r>
          </a:p>
        </p:txBody>
      </p:sp>
      <p:cxnSp>
        <p:nvCxnSpPr>
          <p:cNvPr id="16" name="Connector 15"/>
          <p:cNvCxnSpPr/>
          <p:nvPr/>
        </p:nvCxnSpPr>
        <p:spPr>
          <a:xfrm>
            <a:off x="6903720" y="3749039"/>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903720" y="3822191"/>
            <a:ext cx="1600200" cy="502920"/>
          </a:xfrm>
          <a:prstGeom prst="rect">
            <a:avLst/>
          </a:prstGeom>
          <a:noFill/>
        </p:spPr>
        <p:txBody>
          <a:bodyPr wrap="square" lIns="0" tIns="0" rIns="0" bIns="0" anchor="t">
            <a:spAutoFit/>
          </a:bodyPr>
          <a:lstStyle/>
          <a:p>
            <a:pPr algn="l"/>
            <a:r>
              <a:rPr sz="1200" b="1" i="0">
                <a:solidFill>
                  <a:srgbClr val="5F6B76"/>
                </a:solidFill>
                <a:latin typeface="Arial"/>
              </a:rPr>
              <a:t>Inferencia</a:t>
            </a:r>
          </a:p>
        </p:txBody>
      </p:sp>
      <p:sp>
        <p:nvSpPr>
          <p:cNvPr id="18" name="TextBox 17"/>
          <p:cNvSpPr txBox="1"/>
          <p:nvPr/>
        </p:nvSpPr>
        <p:spPr>
          <a:xfrm>
            <a:off x="8503920" y="3822191"/>
            <a:ext cx="2880360" cy="502920"/>
          </a:xfrm>
          <a:prstGeom prst="rect">
            <a:avLst/>
          </a:prstGeom>
          <a:noFill/>
        </p:spPr>
        <p:txBody>
          <a:bodyPr wrap="square" lIns="0" tIns="0" rIns="0" bIns="0" anchor="t">
            <a:spAutoFit/>
          </a:bodyPr>
          <a:lstStyle/>
          <a:p>
            <a:pPr algn="l"/>
            <a:r>
              <a:rPr sz="1300" b="0" i="0">
                <a:solidFill>
                  <a:srgbClr val="212529"/>
                </a:solidFill>
                <a:latin typeface="Arial"/>
              </a:rPr>
              <a:t>Muestreador paralelo, no autorregresivo</a:t>
            </a:r>
          </a:p>
        </p:txBody>
      </p:sp>
      <p:cxnSp>
        <p:nvCxnSpPr>
          <p:cNvPr id="19" name="Connector 18"/>
          <p:cNvCxnSpPr/>
          <p:nvPr/>
        </p:nvCxnSpPr>
        <p:spPr>
          <a:xfrm>
            <a:off x="6903720" y="4261104"/>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03720" y="4334256"/>
            <a:ext cx="1600200" cy="502920"/>
          </a:xfrm>
          <a:prstGeom prst="rect">
            <a:avLst/>
          </a:prstGeom>
          <a:noFill/>
        </p:spPr>
        <p:txBody>
          <a:bodyPr wrap="square" lIns="0" tIns="0" rIns="0" bIns="0" anchor="t">
            <a:spAutoFit/>
          </a:bodyPr>
          <a:lstStyle/>
          <a:p>
            <a:pPr algn="l"/>
            <a:r>
              <a:rPr sz="1200" b="1" i="0">
                <a:solidFill>
                  <a:srgbClr val="5F6B76"/>
                </a:solidFill>
                <a:latin typeface="Arial"/>
              </a:rPr>
              <a:t>Entrenamiento</a:t>
            </a:r>
          </a:p>
        </p:txBody>
      </p:sp>
      <p:sp>
        <p:nvSpPr>
          <p:cNvPr id="21" name="TextBox 20"/>
          <p:cNvSpPr txBox="1"/>
          <p:nvPr/>
        </p:nvSpPr>
        <p:spPr>
          <a:xfrm>
            <a:off x="8503920" y="4334256"/>
            <a:ext cx="2880360" cy="502920"/>
          </a:xfrm>
          <a:prstGeom prst="rect">
            <a:avLst/>
          </a:prstGeom>
          <a:noFill/>
        </p:spPr>
        <p:txBody>
          <a:bodyPr wrap="square" lIns="0" tIns="0" rIns="0" bIns="0" anchor="t">
            <a:spAutoFit/>
          </a:bodyPr>
          <a:lstStyle/>
          <a:p>
            <a:pPr algn="l"/>
            <a:r>
              <a:rPr sz="1300" b="0" i="0">
                <a:solidFill>
                  <a:srgbClr val="212529"/>
                </a:solidFill>
                <a:latin typeface="Arial"/>
              </a:rPr>
              <a:t>RLCD: aprendizaje por refuerzo para decisiones calibradas</a:t>
            </a:r>
          </a:p>
        </p:txBody>
      </p:sp>
      <p:cxnSp>
        <p:nvCxnSpPr>
          <p:cNvPr id="22" name="Connector 21"/>
          <p:cNvCxnSpPr/>
          <p:nvPr/>
        </p:nvCxnSpPr>
        <p:spPr>
          <a:xfrm>
            <a:off x="6903720" y="4773168"/>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903720" y="4846320"/>
            <a:ext cx="1600200" cy="502920"/>
          </a:xfrm>
          <a:prstGeom prst="rect">
            <a:avLst/>
          </a:prstGeom>
          <a:noFill/>
        </p:spPr>
        <p:txBody>
          <a:bodyPr wrap="square" lIns="0" tIns="0" rIns="0" bIns="0" anchor="t">
            <a:spAutoFit/>
          </a:bodyPr>
          <a:lstStyle/>
          <a:p>
            <a:pPr algn="l"/>
            <a:r>
              <a:rPr sz="1200" b="1" i="0">
                <a:solidFill>
                  <a:srgbClr val="5F6B76"/>
                </a:solidFill>
                <a:latin typeface="Arial"/>
              </a:rPr>
              <a:t>Latencia declarada</a:t>
            </a:r>
          </a:p>
        </p:txBody>
      </p:sp>
      <p:sp>
        <p:nvSpPr>
          <p:cNvPr id="24" name="TextBox 23"/>
          <p:cNvSpPr txBox="1"/>
          <p:nvPr/>
        </p:nvSpPr>
        <p:spPr>
          <a:xfrm>
            <a:off x="8503920" y="4846320"/>
            <a:ext cx="2880360" cy="502920"/>
          </a:xfrm>
          <a:prstGeom prst="rect">
            <a:avLst/>
          </a:prstGeom>
          <a:noFill/>
        </p:spPr>
        <p:txBody>
          <a:bodyPr wrap="square" lIns="0" tIns="0" rIns="0" bIns="0" anchor="t">
            <a:spAutoFit/>
          </a:bodyPr>
          <a:lstStyle/>
          <a:p>
            <a:pPr algn="l"/>
            <a:r>
              <a:rPr sz="1300" b="0" i="0">
                <a:solidFill>
                  <a:srgbClr val="212529"/>
                </a:solidFill>
                <a:latin typeface="Arial"/>
              </a:rPr>
              <a:t>70–500 ms; unos 100 ms en la mayoría de consultas</a:t>
            </a:r>
          </a:p>
        </p:txBody>
      </p:sp>
      <p:cxnSp>
        <p:nvCxnSpPr>
          <p:cNvPr id="25" name="Connector 24"/>
          <p:cNvCxnSpPr/>
          <p:nvPr/>
        </p:nvCxnSpPr>
        <p:spPr>
          <a:xfrm>
            <a:off x="6903720" y="5285232"/>
            <a:ext cx="44805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903720" y="5358384"/>
            <a:ext cx="1600200" cy="502920"/>
          </a:xfrm>
          <a:prstGeom prst="rect">
            <a:avLst/>
          </a:prstGeom>
          <a:noFill/>
        </p:spPr>
        <p:txBody>
          <a:bodyPr wrap="square" lIns="0" tIns="0" rIns="0" bIns="0" anchor="t">
            <a:spAutoFit/>
          </a:bodyPr>
          <a:lstStyle/>
          <a:p>
            <a:pPr algn="l"/>
            <a:r>
              <a:rPr sz="1200" b="1" i="0">
                <a:solidFill>
                  <a:srgbClr val="5F6B76"/>
                </a:solidFill>
                <a:latin typeface="Arial"/>
              </a:rPr>
              <a:t>Nombre</a:t>
            </a:r>
          </a:p>
        </p:txBody>
      </p:sp>
      <p:sp>
        <p:nvSpPr>
          <p:cNvPr id="27" name="TextBox 26"/>
          <p:cNvSpPr txBox="1"/>
          <p:nvPr/>
        </p:nvSpPr>
        <p:spPr>
          <a:xfrm>
            <a:off x="8503920" y="5358384"/>
            <a:ext cx="2880360" cy="502920"/>
          </a:xfrm>
          <a:prstGeom prst="rect">
            <a:avLst/>
          </a:prstGeom>
          <a:noFill/>
        </p:spPr>
        <p:txBody>
          <a:bodyPr wrap="square" lIns="0" tIns="0" rIns="0" bIns="0" anchor="t">
            <a:spAutoFit/>
          </a:bodyPr>
          <a:lstStyle/>
          <a:p>
            <a:pPr algn="l"/>
            <a:r>
              <a:rPr sz="1300" b="0" i="0">
                <a:solidFill>
                  <a:srgbClr val="212529"/>
                </a:solidFill>
                <a:latin typeface="Arial"/>
              </a:rPr>
              <a:t>Sistema 1 de Kahneman y el economista W. S. Jevons</a:t>
            </a:r>
          </a:p>
        </p:txBody>
      </p:sp>
      <p:sp>
        <p:nvSpPr>
          <p:cNvPr id="28" name="TextBox 27"/>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TypeSafe AI, typesafe.ai y docs.typesafe.ai (consultado en septiembre de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Una llamada evalúa varias preguntas sobre un estado</a:t>
            </a:r>
          </a:p>
        </p:txBody>
      </p:sp>
      <p:sp>
        <p:nvSpPr>
          <p:cNvPr id="3" name="Rounded Rectangle 2"/>
          <p:cNvSpPr/>
          <p:nvPr/>
        </p:nvSpPr>
        <p:spPr>
          <a:xfrm>
            <a:off x="548640" y="1600200"/>
            <a:ext cx="3977639" cy="429768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801368"/>
            <a:ext cx="3474720" cy="274320"/>
          </a:xfrm>
          <a:prstGeom prst="rect">
            <a:avLst/>
          </a:prstGeom>
          <a:noFill/>
        </p:spPr>
        <p:txBody>
          <a:bodyPr wrap="square" lIns="0" tIns="0" rIns="0" bIns="0" anchor="t">
            <a:spAutoFit/>
          </a:bodyPr>
          <a:lstStyle/>
          <a:p>
            <a:pPr algn="l"/>
            <a:r>
              <a:rPr sz="1200" b="1" i="0">
                <a:solidFill>
                  <a:srgbClr val="5F6B76"/>
                </a:solidFill>
                <a:latin typeface="Arial"/>
              </a:rPr>
              <a:t>Entrada</a:t>
            </a:r>
          </a:p>
        </p:txBody>
      </p:sp>
      <p:sp>
        <p:nvSpPr>
          <p:cNvPr id="6" name="TextBox 5"/>
          <p:cNvSpPr txBox="1"/>
          <p:nvPr/>
        </p:nvSpPr>
        <p:spPr>
          <a:xfrm>
            <a:off x="822960" y="2148840"/>
            <a:ext cx="3474720" cy="274320"/>
          </a:xfrm>
          <a:prstGeom prst="rect">
            <a:avLst/>
          </a:prstGeom>
          <a:noFill/>
        </p:spPr>
        <p:txBody>
          <a:bodyPr wrap="square" lIns="0" tIns="0" rIns="0" bIns="0" anchor="t">
            <a:spAutoFit/>
          </a:bodyPr>
          <a:lstStyle/>
          <a:p>
            <a:pPr algn="l"/>
            <a:r>
              <a:rPr sz="1200" b="0" i="0">
                <a:solidFill>
                  <a:srgbClr val="5F6B76"/>
                </a:solidFill>
                <a:latin typeface="Arial"/>
              </a:rPr>
              <a:t>Estado</a:t>
            </a:r>
          </a:p>
        </p:txBody>
      </p:sp>
      <p:sp>
        <p:nvSpPr>
          <p:cNvPr id="7" name="TextBox 6"/>
          <p:cNvSpPr txBox="1"/>
          <p:nvPr/>
        </p:nvSpPr>
        <p:spPr>
          <a:xfrm>
            <a:off x="822960" y="2423160"/>
            <a:ext cx="3474720" cy="1371600"/>
          </a:xfrm>
          <a:prstGeom prst="rect">
            <a:avLst/>
          </a:prstGeom>
          <a:noFill/>
        </p:spPr>
        <p:txBody>
          <a:bodyPr wrap="square" lIns="0" tIns="0" rIns="0" bIns="0" anchor="t">
            <a:spAutoFit/>
          </a:bodyPr>
          <a:lstStyle/>
          <a:p>
            <a:pPr algn="l"/>
            <a:r>
              <a:rPr sz="1400" b="0" i="1">
                <a:solidFill>
                  <a:srgbClr val="212529"/>
                </a:solidFill>
                <a:latin typeface="Arial"/>
              </a:rPr>
              <a:t>«Hola, el pedido 4512 me llegó con la pantalla rota. Es la tercera vez que pasa y quiero que me devuelvan el dinero hoy mismo.»</a:t>
            </a:r>
          </a:p>
        </p:txBody>
      </p:sp>
      <p:cxnSp>
        <p:nvCxnSpPr>
          <p:cNvPr id="8" name="Connector 7"/>
          <p:cNvCxnSpPr/>
          <p:nvPr/>
        </p:nvCxnSpPr>
        <p:spPr>
          <a:xfrm>
            <a:off x="822960" y="3840480"/>
            <a:ext cx="342900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3977639"/>
            <a:ext cx="3474720" cy="274320"/>
          </a:xfrm>
          <a:prstGeom prst="rect">
            <a:avLst/>
          </a:prstGeom>
          <a:noFill/>
        </p:spPr>
        <p:txBody>
          <a:bodyPr wrap="square" lIns="0" tIns="0" rIns="0" bIns="0" anchor="t">
            <a:spAutoFit/>
          </a:bodyPr>
          <a:lstStyle/>
          <a:p>
            <a:pPr algn="l"/>
            <a:r>
              <a:rPr sz="1200" b="0" i="0">
                <a:solidFill>
                  <a:srgbClr val="5F6B76"/>
                </a:solidFill>
                <a:latin typeface="Arial"/>
              </a:rPr>
              <a:t>Preguntas tipadas</a:t>
            </a:r>
          </a:p>
        </p:txBody>
      </p:sp>
      <p:sp>
        <p:nvSpPr>
          <p:cNvPr id="10" name="TextBox 9"/>
          <p:cNvSpPr txBox="1"/>
          <p:nvPr/>
        </p:nvSpPr>
        <p:spPr>
          <a:xfrm>
            <a:off x="822960" y="4297680"/>
            <a:ext cx="3474720" cy="365760"/>
          </a:xfrm>
          <a:prstGeom prst="rect">
            <a:avLst/>
          </a:prstGeom>
          <a:noFill/>
        </p:spPr>
        <p:txBody>
          <a:bodyPr wrap="square" lIns="0" tIns="0" rIns="0" bIns="0" anchor="t">
            <a:spAutoFit/>
          </a:bodyPr>
          <a:lstStyle/>
          <a:p>
            <a:pPr algn="l"/>
            <a:r>
              <a:rPr sz="1400" b="1" i="0">
                <a:solidFill>
                  <a:srgbClr val="212529"/>
                </a:solidFill>
                <a:latin typeface="Arial"/>
              </a:rPr>
              <a:t>categoría</a:t>
            </a:r>
            <a:r>
              <a:rPr sz="1400" b="0" i="0">
                <a:solidFill>
                  <a:srgbClr val="5F6B76"/>
                </a:solidFill>
                <a:latin typeface="Arial"/>
              </a:rPr>
              <a:t>   choice · 4 opciones</a:t>
            </a:r>
          </a:p>
        </p:txBody>
      </p:sp>
      <p:sp>
        <p:nvSpPr>
          <p:cNvPr id="11" name="TextBox 10"/>
          <p:cNvSpPr txBox="1"/>
          <p:nvPr/>
        </p:nvSpPr>
        <p:spPr>
          <a:xfrm>
            <a:off x="822960" y="4773168"/>
            <a:ext cx="3474720" cy="365760"/>
          </a:xfrm>
          <a:prstGeom prst="rect">
            <a:avLst/>
          </a:prstGeom>
          <a:noFill/>
        </p:spPr>
        <p:txBody>
          <a:bodyPr wrap="square" lIns="0" tIns="0" rIns="0" bIns="0" anchor="t">
            <a:spAutoFit/>
          </a:bodyPr>
          <a:lstStyle/>
          <a:p>
            <a:pPr algn="l"/>
            <a:r>
              <a:rPr sz="1400" b="1" i="0">
                <a:solidFill>
                  <a:srgbClr val="212529"/>
                </a:solidFill>
                <a:latin typeface="Arial"/>
              </a:rPr>
              <a:t>enfadado</a:t>
            </a:r>
            <a:r>
              <a:rPr sz="1400" b="0" i="0">
                <a:solidFill>
                  <a:srgbClr val="5F6B76"/>
                </a:solidFill>
                <a:latin typeface="Arial"/>
              </a:rPr>
              <a:t>   noul</a:t>
            </a:r>
          </a:p>
        </p:txBody>
      </p:sp>
      <p:sp>
        <p:nvSpPr>
          <p:cNvPr id="12" name="TextBox 11"/>
          <p:cNvSpPr txBox="1"/>
          <p:nvPr/>
        </p:nvSpPr>
        <p:spPr>
          <a:xfrm>
            <a:off x="822960" y="5248656"/>
            <a:ext cx="3474720" cy="365760"/>
          </a:xfrm>
          <a:prstGeom prst="rect">
            <a:avLst/>
          </a:prstGeom>
          <a:noFill/>
        </p:spPr>
        <p:txBody>
          <a:bodyPr wrap="square" lIns="0" tIns="0" rIns="0" bIns="0" anchor="t">
            <a:spAutoFit/>
          </a:bodyPr>
          <a:lstStyle/>
          <a:p>
            <a:pPr algn="l"/>
            <a:r>
              <a:rPr sz="1400" b="1" i="0">
                <a:solidFill>
                  <a:srgbClr val="212529"/>
                </a:solidFill>
                <a:latin typeface="Arial"/>
              </a:rPr>
              <a:t>urgencia</a:t>
            </a:r>
            <a:r>
              <a:rPr sz="1400" b="0" i="0">
                <a:solidFill>
                  <a:srgbClr val="5F6B76"/>
                </a:solidFill>
                <a:latin typeface="Arial"/>
              </a:rPr>
              <a:t>   score · 4 niveles</a:t>
            </a:r>
          </a:p>
        </p:txBody>
      </p:sp>
      <p:sp>
        <p:nvSpPr>
          <p:cNvPr id="13" name="Rounded Rectangle 12"/>
          <p:cNvSpPr/>
          <p:nvPr/>
        </p:nvSpPr>
        <p:spPr>
          <a:xfrm>
            <a:off x="4983480" y="2331720"/>
            <a:ext cx="2240280" cy="2834640"/>
          </a:xfrm>
          <a:prstGeom prst="roundRect">
            <a:avLst>
              <a:gd name="adj" fmla="val 5000"/>
            </a:avLst>
          </a:prstGeom>
          <a:solidFill>
            <a:srgbClr val="1B36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83480" y="2560320"/>
            <a:ext cx="2240280" cy="365760"/>
          </a:xfrm>
          <a:prstGeom prst="rect">
            <a:avLst/>
          </a:prstGeom>
          <a:noFill/>
        </p:spPr>
        <p:txBody>
          <a:bodyPr wrap="square" lIns="0" tIns="0" rIns="0" bIns="0" anchor="t">
            <a:spAutoFit/>
          </a:bodyPr>
          <a:lstStyle/>
          <a:p>
            <a:pPr algn="ctr"/>
            <a:r>
              <a:rPr sz="1600" b="1" i="0">
                <a:solidFill>
                  <a:srgbClr val="FFFFFF"/>
                </a:solidFill>
                <a:latin typeface="Arial"/>
              </a:rPr>
              <a:t>jev-1.13.0</a:t>
            </a:r>
          </a:p>
        </p:txBody>
      </p:sp>
      <p:sp>
        <p:nvSpPr>
          <p:cNvPr id="15" name="TextBox 14"/>
          <p:cNvSpPr txBox="1"/>
          <p:nvPr/>
        </p:nvSpPr>
        <p:spPr>
          <a:xfrm>
            <a:off x="4983480" y="2926080"/>
            <a:ext cx="2240280" cy="320040"/>
          </a:xfrm>
          <a:prstGeom prst="rect">
            <a:avLst/>
          </a:prstGeom>
          <a:noFill/>
        </p:spPr>
        <p:txBody>
          <a:bodyPr wrap="square" lIns="0" tIns="0" rIns="0" bIns="0" anchor="t">
            <a:spAutoFit/>
          </a:bodyPr>
          <a:lstStyle/>
          <a:p>
            <a:pPr algn="ctr"/>
            <a:r>
              <a:rPr sz="1200" b="0" i="0">
                <a:solidFill>
                  <a:srgbClr val="C9D6EA"/>
                </a:solidFill>
                <a:latin typeface="Arial"/>
              </a:rPr>
              <a:t>una sola llamada</a:t>
            </a:r>
          </a:p>
        </p:txBody>
      </p:sp>
      <p:sp>
        <p:nvSpPr>
          <p:cNvPr id="16" name="TextBox 15"/>
          <p:cNvSpPr txBox="1"/>
          <p:nvPr/>
        </p:nvSpPr>
        <p:spPr>
          <a:xfrm>
            <a:off x="4983480" y="3429000"/>
            <a:ext cx="2240280" cy="731520"/>
          </a:xfrm>
          <a:prstGeom prst="rect">
            <a:avLst/>
          </a:prstGeom>
          <a:noFill/>
        </p:spPr>
        <p:txBody>
          <a:bodyPr wrap="square" lIns="0" tIns="0" rIns="0" bIns="0" anchor="t">
            <a:spAutoFit/>
          </a:bodyPr>
          <a:lstStyle/>
          <a:p>
            <a:pPr algn="ctr"/>
            <a:r>
              <a:rPr sz="3800" b="0" i="0">
                <a:solidFill>
                  <a:srgbClr val="FFFFFF"/>
                </a:solidFill>
                <a:latin typeface="Times New Roman"/>
              </a:rPr>
              <a:t>217 ms</a:t>
            </a:r>
          </a:p>
        </p:txBody>
      </p:sp>
      <p:sp>
        <p:nvSpPr>
          <p:cNvPr id="17" name="TextBox 16"/>
          <p:cNvSpPr txBox="1"/>
          <p:nvPr/>
        </p:nvSpPr>
        <p:spPr>
          <a:xfrm>
            <a:off x="5120640" y="4297680"/>
            <a:ext cx="1965960" cy="640080"/>
          </a:xfrm>
          <a:prstGeom prst="rect">
            <a:avLst/>
          </a:prstGeom>
          <a:noFill/>
        </p:spPr>
        <p:txBody>
          <a:bodyPr wrap="square" lIns="0" tIns="0" rIns="0" bIns="0" anchor="t">
            <a:spAutoFit/>
          </a:bodyPr>
          <a:lstStyle/>
          <a:p>
            <a:pPr algn="ctr"/>
            <a:r>
              <a:rPr sz="1200" b="0" i="0">
                <a:solidFill>
                  <a:srgbClr val="C9D6EA"/>
                </a:solidFill>
                <a:latin typeface="Arial"/>
              </a:rPr>
              <a:t>tres preguntas evaluadas a la vez</a:t>
            </a:r>
          </a:p>
        </p:txBody>
      </p:sp>
      <p:cxnSp>
        <p:nvCxnSpPr>
          <p:cNvPr id="18" name="Connector 17"/>
          <p:cNvCxnSpPr/>
          <p:nvPr/>
        </p:nvCxnSpPr>
        <p:spPr>
          <a:xfrm>
            <a:off x="4553712" y="3749039"/>
            <a:ext cx="402336"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251192" y="3749039"/>
            <a:ext cx="402335" cy="0"/>
          </a:xfrm>
          <a:prstGeom prst="line">
            <a:avLst/>
          </a:prstGeom>
          <a:ln w="19050">
            <a:solidFill>
              <a:srgbClr val="5F6B7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680960" y="1600200"/>
            <a:ext cx="3977639" cy="429768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90956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955279" y="1801368"/>
            <a:ext cx="3474720" cy="274320"/>
          </a:xfrm>
          <a:prstGeom prst="rect">
            <a:avLst/>
          </a:prstGeom>
          <a:noFill/>
        </p:spPr>
        <p:txBody>
          <a:bodyPr wrap="square" lIns="0" tIns="0" rIns="0" bIns="0" anchor="t">
            <a:spAutoFit/>
          </a:bodyPr>
          <a:lstStyle/>
          <a:p>
            <a:pPr algn="l"/>
            <a:r>
              <a:rPr sz="1200" b="1" i="0">
                <a:solidFill>
                  <a:srgbClr val="5F6B76"/>
                </a:solidFill>
                <a:latin typeface="Arial"/>
              </a:rPr>
              <a:t>Salida</a:t>
            </a:r>
          </a:p>
        </p:txBody>
      </p:sp>
      <p:sp>
        <p:nvSpPr>
          <p:cNvPr id="23" name="TextBox 22"/>
          <p:cNvSpPr txBox="1"/>
          <p:nvPr/>
        </p:nvSpPr>
        <p:spPr>
          <a:xfrm>
            <a:off x="7955279" y="2240280"/>
            <a:ext cx="3474720" cy="274320"/>
          </a:xfrm>
          <a:prstGeom prst="rect">
            <a:avLst/>
          </a:prstGeom>
          <a:noFill/>
        </p:spPr>
        <p:txBody>
          <a:bodyPr wrap="square" lIns="0" tIns="0" rIns="0" bIns="0" anchor="t">
            <a:spAutoFit/>
          </a:bodyPr>
          <a:lstStyle/>
          <a:p>
            <a:pPr algn="l"/>
            <a:r>
              <a:rPr sz="1200" b="0" i="0">
                <a:solidFill>
                  <a:srgbClr val="5F6B76"/>
                </a:solidFill>
                <a:latin typeface="Arial"/>
              </a:rPr>
              <a:t>categoría · choice</a:t>
            </a:r>
          </a:p>
        </p:txBody>
      </p:sp>
      <p:sp>
        <p:nvSpPr>
          <p:cNvPr id="24" name="TextBox 23"/>
          <p:cNvSpPr txBox="1"/>
          <p:nvPr/>
        </p:nvSpPr>
        <p:spPr>
          <a:xfrm>
            <a:off x="7955279" y="2542032"/>
            <a:ext cx="2103120" cy="502920"/>
          </a:xfrm>
          <a:prstGeom prst="rect">
            <a:avLst/>
          </a:prstGeom>
          <a:noFill/>
        </p:spPr>
        <p:txBody>
          <a:bodyPr wrap="square" lIns="0" tIns="0" rIns="0" bIns="0" anchor="t">
            <a:spAutoFit/>
          </a:bodyPr>
          <a:lstStyle/>
          <a:p>
            <a:pPr algn="l"/>
            <a:r>
              <a:rPr sz="2400" b="1" i="0">
                <a:solidFill>
                  <a:srgbClr val="1B3660"/>
                </a:solidFill>
                <a:latin typeface="Times New Roman"/>
              </a:rPr>
              <a:t>reembolso</a:t>
            </a:r>
          </a:p>
        </p:txBody>
      </p:sp>
      <p:sp>
        <p:nvSpPr>
          <p:cNvPr id="25" name="TextBox 24"/>
          <p:cNvSpPr txBox="1"/>
          <p:nvPr/>
        </p:nvSpPr>
        <p:spPr>
          <a:xfrm>
            <a:off x="10058400" y="2624328"/>
            <a:ext cx="1325880" cy="411480"/>
          </a:xfrm>
          <a:prstGeom prst="rect">
            <a:avLst/>
          </a:prstGeom>
          <a:noFill/>
        </p:spPr>
        <p:txBody>
          <a:bodyPr wrap="square" lIns="0" tIns="0" rIns="0" bIns="0" anchor="t">
            <a:spAutoFit/>
          </a:bodyPr>
          <a:lstStyle/>
          <a:p>
            <a:pPr algn="r"/>
            <a:r>
              <a:rPr sz="1400" b="0" i="0">
                <a:solidFill>
                  <a:srgbClr val="212529"/>
                </a:solidFill>
                <a:latin typeface="Arial"/>
              </a:rPr>
              <a:t>p = 1,00</a:t>
            </a:r>
          </a:p>
        </p:txBody>
      </p:sp>
      <p:cxnSp>
        <p:nvCxnSpPr>
          <p:cNvPr id="26" name="Connector 25"/>
          <p:cNvCxnSpPr/>
          <p:nvPr/>
        </p:nvCxnSpPr>
        <p:spPr>
          <a:xfrm>
            <a:off x="7955279" y="3291840"/>
            <a:ext cx="3429001"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955279" y="3429000"/>
            <a:ext cx="3474720" cy="274320"/>
          </a:xfrm>
          <a:prstGeom prst="rect">
            <a:avLst/>
          </a:prstGeom>
          <a:noFill/>
        </p:spPr>
        <p:txBody>
          <a:bodyPr wrap="square" lIns="0" tIns="0" rIns="0" bIns="0" anchor="t">
            <a:spAutoFit/>
          </a:bodyPr>
          <a:lstStyle/>
          <a:p>
            <a:pPr algn="l"/>
            <a:r>
              <a:rPr sz="1200" b="0" i="0">
                <a:solidFill>
                  <a:srgbClr val="5F6B76"/>
                </a:solidFill>
                <a:latin typeface="Arial"/>
              </a:rPr>
              <a:t>enfadado · noul</a:t>
            </a:r>
          </a:p>
        </p:txBody>
      </p:sp>
      <p:sp>
        <p:nvSpPr>
          <p:cNvPr id="28" name="TextBox 27"/>
          <p:cNvSpPr txBox="1"/>
          <p:nvPr/>
        </p:nvSpPr>
        <p:spPr>
          <a:xfrm>
            <a:off x="7955279" y="3730752"/>
            <a:ext cx="2103120" cy="502920"/>
          </a:xfrm>
          <a:prstGeom prst="rect">
            <a:avLst/>
          </a:prstGeom>
          <a:noFill/>
        </p:spPr>
        <p:txBody>
          <a:bodyPr wrap="square" lIns="0" tIns="0" rIns="0" bIns="0" anchor="t">
            <a:spAutoFit/>
          </a:bodyPr>
          <a:lstStyle/>
          <a:p>
            <a:pPr algn="l"/>
            <a:r>
              <a:rPr sz="2400" b="1" i="0">
                <a:solidFill>
                  <a:srgbClr val="1B3660"/>
                </a:solidFill>
                <a:latin typeface="Times New Roman"/>
              </a:rPr>
              <a:t>sí</a:t>
            </a:r>
          </a:p>
        </p:txBody>
      </p:sp>
      <p:sp>
        <p:nvSpPr>
          <p:cNvPr id="29" name="TextBox 28"/>
          <p:cNvSpPr txBox="1"/>
          <p:nvPr/>
        </p:nvSpPr>
        <p:spPr>
          <a:xfrm>
            <a:off x="10058400" y="3813048"/>
            <a:ext cx="1325880" cy="411480"/>
          </a:xfrm>
          <a:prstGeom prst="rect">
            <a:avLst/>
          </a:prstGeom>
          <a:noFill/>
        </p:spPr>
        <p:txBody>
          <a:bodyPr wrap="square" lIns="0" tIns="0" rIns="0" bIns="0" anchor="t">
            <a:spAutoFit/>
          </a:bodyPr>
          <a:lstStyle/>
          <a:p>
            <a:pPr algn="r"/>
            <a:r>
              <a:rPr sz="1400" b="0" i="0">
                <a:solidFill>
                  <a:srgbClr val="212529"/>
                </a:solidFill>
                <a:latin typeface="Arial"/>
              </a:rPr>
              <a:t>p = 0,96</a:t>
            </a:r>
          </a:p>
        </p:txBody>
      </p:sp>
      <p:cxnSp>
        <p:nvCxnSpPr>
          <p:cNvPr id="30" name="Connector 29"/>
          <p:cNvCxnSpPr/>
          <p:nvPr/>
        </p:nvCxnSpPr>
        <p:spPr>
          <a:xfrm>
            <a:off x="7955279" y="4480560"/>
            <a:ext cx="3429001"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955279" y="4617720"/>
            <a:ext cx="3474720" cy="274320"/>
          </a:xfrm>
          <a:prstGeom prst="rect">
            <a:avLst/>
          </a:prstGeom>
          <a:noFill/>
        </p:spPr>
        <p:txBody>
          <a:bodyPr wrap="square" lIns="0" tIns="0" rIns="0" bIns="0" anchor="t">
            <a:spAutoFit/>
          </a:bodyPr>
          <a:lstStyle/>
          <a:p>
            <a:pPr algn="l"/>
            <a:r>
              <a:rPr sz="1200" b="0" i="0">
                <a:solidFill>
                  <a:srgbClr val="5F6B76"/>
                </a:solidFill>
                <a:latin typeface="Arial"/>
              </a:rPr>
              <a:t>urgencia · score</a:t>
            </a:r>
          </a:p>
        </p:txBody>
      </p:sp>
      <p:sp>
        <p:nvSpPr>
          <p:cNvPr id="32" name="TextBox 31"/>
          <p:cNvSpPr txBox="1"/>
          <p:nvPr/>
        </p:nvSpPr>
        <p:spPr>
          <a:xfrm>
            <a:off x="7955279" y="4919472"/>
            <a:ext cx="2103120" cy="502920"/>
          </a:xfrm>
          <a:prstGeom prst="rect">
            <a:avLst/>
          </a:prstGeom>
          <a:noFill/>
        </p:spPr>
        <p:txBody>
          <a:bodyPr wrap="square" lIns="0" tIns="0" rIns="0" bIns="0" anchor="t">
            <a:spAutoFit/>
          </a:bodyPr>
          <a:lstStyle/>
          <a:p>
            <a:pPr algn="l"/>
            <a:r>
              <a:rPr sz="2400" b="1" i="0">
                <a:solidFill>
                  <a:srgbClr val="1B3660"/>
                </a:solidFill>
                <a:latin typeface="Times New Roman"/>
              </a:rPr>
              <a:t>alta</a:t>
            </a:r>
          </a:p>
        </p:txBody>
      </p:sp>
      <p:sp>
        <p:nvSpPr>
          <p:cNvPr id="33" name="TextBox 32"/>
          <p:cNvSpPr txBox="1"/>
          <p:nvPr/>
        </p:nvSpPr>
        <p:spPr>
          <a:xfrm>
            <a:off x="10058400" y="5001768"/>
            <a:ext cx="1325880" cy="411480"/>
          </a:xfrm>
          <a:prstGeom prst="rect">
            <a:avLst/>
          </a:prstGeom>
          <a:noFill/>
        </p:spPr>
        <p:txBody>
          <a:bodyPr wrap="square" lIns="0" tIns="0" rIns="0" bIns="0" anchor="t">
            <a:spAutoFit/>
          </a:bodyPr>
          <a:lstStyle/>
          <a:p>
            <a:pPr algn="r"/>
            <a:r>
              <a:rPr sz="1400" b="0" i="0">
                <a:solidFill>
                  <a:srgbClr val="212529"/>
                </a:solidFill>
                <a:latin typeface="Arial"/>
              </a:rPr>
              <a:t>p = 0,75</a:t>
            </a:r>
          </a:p>
        </p:txBody>
      </p:sp>
      <p:sp>
        <p:nvSpPr>
          <p:cNvPr id="34" name="TextBox 33"/>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Mensaje de soporte redactado para la prueba. Salida real de una llamada de 217 ms medida desde el cliente, con la red incluida.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Tres tipos de pregunta</a:t>
            </a:r>
          </a:p>
        </p:txBody>
      </p:sp>
      <p:sp>
        <p:nvSpPr>
          <p:cNvPr id="3" name="Rounded Rectangle 2"/>
          <p:cNvSpPr/>
          <p:nvPr/>
        </p:nvSpPr>
        <p:spPr>
          <a:xfrm>
            <a:off x="548640" y="1600200"/>
            <a:ext cx="352044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7724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59" y="1828800"/>
            <a:ext cx="3017520" cy="457200"/>
          </a:xfrm>
          <a:prstGeom prst="rect">
            <a:avLst/>
          </a:prstGeom>
          <a:noFill/>
        </p:spPr>
        <p:txBody>
          <a:bodyPr wrap="square" lIns="0" tIns="0" rIns="0" bIns="0" anchor="t">
            <a:spAutoFit/>
          </a:bodyPr>
          <a:lstStyle/>
          <a:p>
            <a:pPr algn="l"/>
            <a:r>
              <a:rPr sz="2400" b="1" i="0">
                <a:solidFill>
                  <a:srgbClr val="1B3660"/>
                </a:solidFill>
                <a:latin typeface="Times New Roman"/>
              </a:rPr>
              <a:t>choice</a:t>
            </a:r>
          </a:p>
        </p:txBody>
      </p:sp>
      <p:sp>
        <p:nvSpPr>
          <p:cNvPr id="6" name="TextBox 5"/>
          <p:cNvSpPr txBox="1"/>
          <p:nvPr/>
        </p:nvSpPr>
        <p:spPr>
          <a:xfrm>
            <a:off x="822959" y="2286000"/>
            <a:ext cx="3017520" cy="320040"/>
          </a:xfrm>
          <a:prstGeom prst="rect">
            <a:avLst/>
          </a:prstGeom>
          <a:noFill/>
        </p:spPr>
        <p:txBody>
          <a:bodyPr wrap="square" lIns="0" tIns="0" rIns="0" bIns="0" anchor="t">
            <a:spAutoFit/>
          </a:bodyPr>
          <a:lstStyle/>
          <a:p>
            <a:pPr algn="l"/>
            <a:r>
              <a:rPr sz="1300" b="1" i="0">
                <a:solidFill>
                  <a:srgbClr val="5F6B76"/>
                </a:solidFill>
                <a:latin typeface="Arial"/>
              </a:rPr>
              <a:t>Clasificación multiclase</a:t>
            </a:r>
          </a:p>
        </p:txBody>
      </p:sp>
      <p:sp>
        <p:nvSpPr>
          <p:cNvPr id="7" name="TextBox 6"/>
          <p:cNvSpPr txBox="1"/>
          <p:nvPr/>
        </p:nvSpPr>
        <p:spPr>
          <a:xfrm>
            <a:off x="822959" y="2697480"/>
            <a:ext cx="3017520" cy="1143000"/>
          </a:xfrm>
          <a:prstGeom prst="rect">
            <a:avLst/>
          </a:prstGeom>
          <a:noFill/>
        </p:spPr>
        <p:txBody>
          <a:bodyPr wrap="square" lIns="0" tIns="0" rIns="0" bIns="0" anchor="t">
            <a:spAutoFit/>
          </a:bodyPr>
          <a:lstStyle/>
          <a:p>
            <a:pPr algn="l"/>
            <a:r>
              <a:rPr sz="1400" b="0" i="0">
                <a:solidFill>
                  <a:srgbClr val="212529"/>
                </a:solidFill>
                <a:latin typeface="Arial"/>
              </a:rPr>
              <a:t>Elige una etiqueta de un conjunto finito C definido por el usuario y devuelve la probabilidad de cada opción.</a:t>
            </a:r>
          </a:p>
        </p:txBody>
      </p:sp>
      <p:sp>
        <p:nvSpPr>
          <p:cNvPr id="8" name="TextBox 7"/>
          <p:cNvSpPr txBox="1"/>
          <p:nvPr/>
        </p:nvSpPr>
        <p:spPr>
          <a:xfrm>
            <a:off x="822959" y="3840480"/>
            <a:ext cx="3017520" cy="365760"/>
          </a:xfrm>
          <a:prstGeom prst="rect">
            <a:avLst/>
          </a:prstGeom>
          <a:noFill/>
        </p:spPr>
        <p:txBody>
          <a:bodyPr wrap="square" lIns="0" tIns="0" rIns="0" bIns="0" anchor="t">
            <a:spAutoFit/>
          </a:bodyPr>
          <a:lstStyle/>
          <a:p>
            <a:pPr algn="l"/>
            <a:r>
              <a:rPr sz="1400" b="0" i="1">
                <a:solidFill>
                  <a:srgbClr val="1B3660"/>
                </a:solidFill>
                <a:latin typeface="Times New Roman"/>
              </a:rPr>
              <a:t>c* = arg max P(c | s, q),   |C| ≤ 255</a:t>
            </a:r>
          </a:p>
        </p:txBody>
      </p:sp>
      <p:sp>
        <p:nvSpPr>
          <p:cNvPr id="9" name="Rectangle 8"/>
          <p:cNvSpPr/>
          <p:nvPr/>
        </p:nvSpPr>
        <p:spPr>
          <a:xfrm>
            <a:off x="822959" y="4389120"/>
            <a:ext cx="2971800" cy="128016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60120" y="4498848"/>
            <a:ext cx="2697480" cy="274320"/>
          </a:xfrm>
          <a:prstGeom prst="rect">
            <a:avLst/>
          </a:prstGeom>
          <a:noFill/>
        </p:spPr>
        <p:txBody>
          <a:bodyPr wrap="square" lIns="0" tIns="0" rIns="0" bIns="0" anchor="t">
            <a:spAutoFit/>
          </a:bodyPr>
          <a:lstStyle/>
          <a:p>
            <a:pPr algn="l"/>
            <a:r>
              <a:rPr sz="1100" b="1" i="0">
                <a:solidFill>
                  <a:srgbClr val="5F6B76"/>
                </a:solidFill>
                <a:latin typeface="Arial"/>
              </a:rPr>
              <a:t>Ejemplo</a:t>
            </a:r>
          </a:p>
        </p:txBody>
      </p:sp>
      <p:sp>
        <p:nvSpPr>
          <p:cNvPr id="11" name="TextBox 10"/>
          <p:cNvSpPr txBox="1"/>
          <p:nvPr/>
        </p:nvSpPr>
        <p:spPr>
          <a:xfrm>
            <a:off x="960120" y="4754880"/>
            <a:ext cx="2697480" cy="457200"/>
          </a:xfrm>
          <a:prstGeom prst="rect">
            <a:avLst/>
          </a:prstGeom>
          <a:noFill/>
        </p:spPr>
        <p:txBody>
          <a:bodyPr wrap="square" lIns="0" tIns="0" rIns="0" bIns="0" anchor="t">
            <a:spAutoFit/>
          </a:bodyPr>
          <a:lstStyle/>
          <a:p>
            <a:pPr algn="l"/>
            <a:r>
              <a:rPr sz="1300" b="0" i="0">
                <a:solidFill>
                  <a:srgbClr val="212529"/>
                </a:solidFill>
                <a:latin typeface="Arial"/>
              </a:rPr>
              <a:t>¿A cuál de los 30 departamentos se envía?</a:t>
            </a:r>
          </a:p>
        </p:txBody>
      </p:sp>
      <p:sp>
        <p:nvSpPr>
          <p:cNvPr id="12" name="TextBox 11"/>
          <p:cNvSpPr txBox="1"/>
          <p:nvPr/>
        </p:nvSpPr>
        <p:spPr>
          <a:xfrm>
            <a:off x="960120" y="5230368"/>
            <a:ext cx="2697480" cy="365760"/>
          </a:xfrm>
          <a:prstGeom prst="rect">
            <a:avLst/>
          </a:prstGeom>
          <a:noFill/>
        </p:spPr>
        <p:txBody>
          <a:bodyPr wrap="square" lIns="0" tIns="0" rIns="0" bIns="0" anchor="t">
            <a:spAutoFit/>
          </a:bodyPr>
          <a:lstStyle/>
          <a:p>
            <a:pPr algn="l"/>
            <a:r>
              <a:rPr sz="1300" b="1" i="0">
                <a:solidFill>
                  <a:srgbClr val="1B3660"/>
                </a:solidFill>
                <a:latin typeface="Arial"/>
              </a:rPr>
              <a:t>facturación · p = 1,00</a:t>
            </a:r>
          </a:p>
        </p:txBody>
      </p:sp>
      <p:sp>
        <p:nvSpPr>
          <p:cNvPr id="13" name="Rounded Rectangle 12"/>
          <p:cNvSpPr/>
          <p:nvPr/>
        </p:nvSpPr>
        <p:spPr>
          <a:xfrm>
            <a:off x="4343400" y="1600200"/>
            <a:ext cx="352044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57200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7720" y="1828800"/>
            <a:ext cx="3017520" cy="457200"/>
          </a:xfrm>
          <a:prstGeom prst="rect">
            <a:avLst/>
          </a:prstGeom>
          <a:noFill/>
        </p:spPr>
        <p:txBody>
          <a:bodyPr wrap="square" lIns="0" tIns="0" rIns="0" bIns="0" anchor="t">
            <a:spAutoFit/>
          </a:bodyPr>
          <a:lstStyle/>
          <a:p>
            <a:pPr algn="l"/>
            <a:r>
              <a:rPr sz="2400" b="1" i="0">
                <a:solidFill>
                  <a:srgbClr val="1B3660"/>
                </a:solidFill>
                <a:latin typeface="Times New Roman"/>
              </a:rPr>
              <a:t>noul</a:t>
            </a:r>
          </a:p>
        </p:txBody>
      </p:sp>
      <p:sp>
        <p:nvSpPr>
          <p:cNvPr id="16" name="TextBox 15"/>
          <p:cNvSpPr txBox="1"/>
          <p:nvPr/>
        </p:nvSpPr>
        <p:spPr>
          <a:xfrm>
            <a:off x="4617720" y="2286000"/>
            <a:ext cx="3017520" cy="320040"/>
          </a:xfrm>
          <a:prstGeom prst="rect">
            <a:avLst/>
          </a:prstGeom>
          <a:noFill/>
        </p:spPr>
        <p:txBody>
          <a:bodyPr wrap="square" lIns="0" tIns="0" rIns="0" bIns="0" anchor="t">
            <a:spAutoFit/>
          </a:bodyPr>
          <a:lstStyle/>
          <a:p>
            <a:pPr algn="l"/>
            <a:r>
              <a:rPr sz="1300" b="1" i="0">
                <a:solidFill>
                  <a:srgbClr val="5F6B76"/>
                </a:solidFill>
                <a:latin typeface="Arial"/>
              </a:rPr>
              <a:t>Decisión binaria</a:t>
            </a:r>
          </a:p>
        </p:txBody>
      </p:sp>
      <p:sp>
        <p:nvSpPr>
          <p:cNvPr id="17" name="TextBox 16"/>
          <p:cNvSpPr txBox="1"/>
          <p:nvPr/>
        </p:nvSpPr>
        <p:spPr>
          <a:xfrm>
            <a:off x="4617720" y="2697480"/>
            <a:ext cx="3017520" cy="1143000"/>
          </a:xfrm>
          <a:prstGeom prst="rect">
            <a:avLst/>
          </a:prstGeom>
          <a:noFill/>
        </p:spPr>
        <p:txBody>
          <a:bodyPr wrap="square" lIns="0" tIns="0" rIns="0" bIns="0" anchor="t">
            <a:spAutoFit/>
          </a:bodyPr>
          <a:lstStyle/>
          <a:p>
            <a:pPr algn="l"/>
            <a:r>
              <a:rPr sz="1400" b="0" i="0">
                <a:solidFill>
                  <a:srgbClr val="212529"/>
                </a:solidFill>
                <a:latin typeface="Arial"/>
              </a:rPr>
              <a:t>Devuelve la probabilidad de que una afirmación sobre el estado sea cierta; la decisión se obtiene con un umbral.</a:t>
            </a:r>
          </a:p>
        </p:txBody>
      </p:sp>
      <p:sp>
        <p:nvSpPr>
          <p:cNvPr id="18" name="TextBox 17"/>
          <p:cNvSpPr txBox="1"/>
          <p:nvPr/>
        </p:nvSpPr>
        <p:spPr>
          <a:xfrm>
            <a:off x="4617720" y="3840480"/>
            <a:ext cx="3017520" cy="365760"/>
          </a:xfrm>
          <a:prstGeom prst="rect">
            <a:avLst/>
          </a:prstGeom>
          <a:noFill/>
        </p:spPr>
        <p:txBody>
          <a:bodyPr wrap="square" lIns="0" tIns="0" rIns="0" bIns="0" anchor="t">
            <a:spAutoFit/>
          </a:bodyPr>
          <a:lstStyle/>
          <a:p>
            <a:pPr algn="l"/>
            <a:r>
              <a:rPr sz="1400" b="0" i="1">
                <a:solidFill>
                  <a:srgbClr val="1B3660"/>
                </a:solidFill>
                <a:latin typeface="Times New Roman"/>
              </a:rPr>
              <a:t>p = P(verdadero | s, q) ∈ [0, 1]</a:t>
            </a:r>
          </a:p>
        </p:txBody>
      </p:sp>
      <p:sp>
        <p:nvSpPr>
          <p:cNvPr id="19" name="Rectangle 18"/>
          <p:cNvSpPr/>
          <p:nvPr/>
        </p:nvSpPr>
        <p:spPr>
          <a:xfrm>
            <a:off x="4617720" y="4389120"/>
            <a:ext cx="2971800" cy="128016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754880" y="4498848"/>
            <a:ext cx="2697480" cy="274320"/>
          </a:xfrm>
          <a:prstGeom prst="rect">
            <a:avLst/>
          </a:prstGeom>
          <a:noFill/>
        </p:spPr>
        <p:txBody>
          <a:bodyPr wrap="square" lIns="0" tIns="0" rIns="0" bIns="0" anchor="t">
            <a:spAutoFit/>
          </a:bodyPr>
          <a:lstStyle/>
          <a:p>
            <a:pPr algn="l"/>
            <a:r>
              <a:rPr sz="1100" b="1" i="0">
                <a:solidFill>
                  <a:srgbClr val="5F6B76"/>
                </a:solidFill>
                <a:latin typeface="Arial"/>
              </a:rPr>
              <a:t>Ejemplo</a:t>
            </a:r>
          </a:p>
        </p:txBody>
      </p:sp>
      <p:sp>
        <p:nvSpPr>
          <p:cNvPr id="21" name="TextBox 20"/>
          <p:cNvSpPr txBox="1"/>
          <p:nvPr/>
        </p:nvSpPr>
        <p:spPr>
          <a:xfrm>
            <a:off x="4754880" y="4754880"/>
            <a:ext cx="2697480" cy="457200"/>
          </a:xfrm>
          <a:prstGeom prst="rect">
            <a:avLst/>
          </a:prstGeom>
          <a:noFill/>
        </p:spPr>
        <p:txBody>
          <a:bodyPr wrap="square" lIns="0" tIns="0" rIns="0" bIns="0" anchor="t">
            <a:spAutoFit/>
          </a:bodyPr>
          <a:lstStyle/>
          <a:p>
            <a:pPr algn="l"/>
            <a:r>
              <a:rPr sz="1300" b="0" i="0">
                <a:solidFill>
                  <a:srgbClr val="212529"/>
                </a:solidFill>
                <a:latin typeface="Arial"/>
              </a:rPr>
              <a:t>¿El cliente está enfadado?</a:t>
            </a:r>
          </a:p>
        </p:txBody>
      </p:sp>
      <p:sp>
        <p:nvSpPr>
          <p:cNvPr id="22" name="TextBox 21"/>
          <p:cNvSpPr txBox="1"/>
          <p:nvPr/>
        </p:nvSpPr>
        <p:spPr>
          <a:xfrm>
            <a:off x="4754880" y="5230368"/>
            <a:ext cx="2697480" cy="365760"/>
          </a:xfrm>
          <a:prstGeom prst="rect">
            <a:avLst/>
          </a:prstGeom>
          <a:noFill/>
        </p:spPr>
        <p:txBody>
          <a:bodyPr wrap="square" lIns="0" tIns="0" rIns="0" bIns="0" anchor="t">
            <a:spAutoFit/>
          </a:bodyPr>
          <a:lstStyle/>
          <a:p>
            <a:pPr algn="l"/>
            <a:r>
              <a:rPr sz="1300" b="1" i="0">
                <a:solidFill>
                  <a:srgbClr val="1B3660"/>
                </a:solidFill>
                <a:latin typeface="Arial"/>
              </a:rPr>
              <a:t>p = 0,96 → sí (umbral 0,5)</a:t>
            </a:r>
          </a:p>
        </p:txBody>
      </p:sp>
      <p:sp>
        <p:nvSpPr>
          <p:cNvPr id="23" name="Rounded Rectangle 22"/>
          <p:cNvSpPr/>
          <p:nvPr/>
        </p:nvSpPr>
        <p:spPr>
          <a:xfrm>
            <a:off x="8138160" y="1600200"/>
            <a:ext cx="352044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36676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412480" y="1828800"/>
            <a:ext cx="3017520" cy="457200"/>
          </a:xfrm>
          <a:prstGeom prst="rect">
            <a:avLst/>
          </a:prstGeom>
          <a:noFill/>
        </p:spPr>
        <p:txBody>
          <a:bodyPr wrap="square" lIns="0" tIns="0" rIns="0" bIns="0" anchor="t">
            <a:spAutoFit/>
          </a:bodyPr>
          <a:lstStyle/>
          <a:p>
            <a:pPr algn="l"/>
            <a:r>
              <a:rPr sz="2400" b="1" i="0">
                <a:solidFill>
                  <a:srgbClr val="1B3660"/>
                </a:solidFill>
                <a:latin typeface="Times New Roman"/>
              </a:rPr>
              <a:t>score</a:t>
            </a:r>
          </a:p>
        </p:txBody>
      </p:sp>
      <p:sp>
        <p:nvSpPr>
          <p:cNvPr id="26" name="TextBox 25"/>
          <p:cNvSpPr txBox="1"/>
          <p:nvPr/>
        </p:nvSpPr>
        <p:spPr>
          <a:xfrm>
            <a:off x="8412480" y="2286000"/>
            <a:ext cx="3017520" cy="320040"/>
          </a:xfrm>
          <a:prstGeom prst="rect">
            <a:avLst/>
          </a:prstGeom>
          <a:noFill/>
        </p:spPr>
        <p:txBody>
          <a:bodyPr wrap="square" lIns="0" tIns="0" rIns="0" bIns="0" anchor="t">
            <a:spAutoFit/>
          </a:bodyPr>
          <a:lstStyle/>
          <a:p>
            <a:pPr algn="l"/>
            <a:r>
              <a:rPr sz="1300" b="1" i="0">
                <a:solidFill>
                  <a:srgbClr val="5F6B76"/>
                </a:solidFill>
                <a:latin typeface="Arial"/>
              </a:rPr>
              <a:t>Escala ordinal</a:t>
            </a:r>
          </a:p>
        </p:txBody>
      </p:sp>
      <p:sp>
        <p:nvSpPr>
          <p:cNvPr id="27" name="TextBox 26"/>
          <p:cNvSpPr txBox="1"/>
          <p:nvPr/>
        </p:nvSpPr>
        <p:spPr>
          <a:xfrm>
            <a:off x="8412480" y="2697480"/>
            <a:ext cx="3017520" cy="1143000"/>
          </a:xfrm>
          <a:prstGeom prst="rect">
            <a:avLst/>
          </a:prstGeom>
          <a:noFill/>
        </p:spPr>
        <p:txBody>
          <a:bodyPr wrap="square" lIns="0" tIns="0" rIns="0" bIns="0" anchor="t">
            <a:spAutoFit/>
          </a:bodyPr>
          <a:lstStyle/>
          <a:p>
            <a:pPr algn="l"/>
            <a:r>
              <a:rPr sz="1400" b="0" i="0">
                <a:solidFill>
                  <a:srgbClr val="212529"/>
                </a:solidFill>
                <a:latin typeface="Arial"/>
              </a:rPr>
              <a:t>Sitúa el estado en una escala de k niveles ordenados (k ≤ 10) y devuelve el nivel esperado y su distribución.</a:t>
            </a:r>
          </a:p>
        </p:txBody>
      </p:sp>
      <p:sp>
        <p:nvSpPr>
          <p:cNvPr id="28" name="TextBox 27"/>
          <p:cNvSpPr txBox="1"/>
          <p:nvPr/>
        </p:nvSpPr>
        <p:spPr>
          <a:xfrm>
            <a:off x="8412480" y="3840480"/>
            <a:ext cx="3017520" cy="365760"/>
          </a:xfrm>
          <a:prstGeom prst="rect">
            <a:avLst/>
          </a:prstGeom>
          <a:noFill/>
        </p:spPr>
        <p:txBody>
          <a:bodyPr wrap="square" lIns="0" tIns="0" rIns="0" bIns="0" anchor="t">
            <a:spAutoFit/>
          </a:bodyPr>
          <a:lstStyle/>
          <a:p>
            <a:pPr algn="l"/>
            <a:r>
              <a:rPr sz="1400" b="0" i="1">
                <a:solidFill>
                  <a:srgbClr val="1B3660"/>
                </a:solidFill>
                <a:latin typeface="Times New Roman"/>
              </a:rPr>
              <a:t>score = Σ i · P(nivel i | s, q)</a:t>
            </a:r>
          </a:p>
        </p:txBody>
      </p:sp>
      <p:sp>
        <p:nvSpPr>
          <p:cNvPr id="29" name="Rectangle 28"/>
          <p:cNvSpPr/>
          <p:nvPr/>
        </p:nvSpPr>
        <p:spPr>
          <a:xfrm>
            <a:off x="8412480" y="4389120"/>
            <a:ext cx="2971800" cy="128016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49640" y="4498848"/>
            <a:ext cx="2697480" cy="274320"/>
          </a:xfrm>
          <a:prstGeom prst="rect">
            <a:avLst/>
          </a:prstGeom>
          <a:noFill/>
        </p:spPr>
        <p:txBody>
          <a:bodyPr wrap="square" lIns="0" tIns="0" rIns="0" bIns="0" anchor="t">
            <a:spAutoFit/>
          </a:bodyPr>
          <a:lstStyle/>
          <a:p>
            <a:pPr algn="l"/>
            <a:r>
              <a:rPr sz="1100" b="1" i="0">
                <a:solidFill>
                  <a:srgbClr val="5F6B76"/>
                </a:solidFill>
                <a:latin typeface="Arial"/>
              </a:rPr>
              <a:t>Ejemplo</a:t>
            </a:r>
          </a:p>
        </p:txBody>
      </p:sp>
      <p:sp>
        <p:nvSpPr>
          <p:cNvPr id="31" name="TextBox 30"/>
          <p:cNvSpPr txBox="1"/>
          <p:nvPr/>
        </p:nvSpPr>
        <p:spPr>
          <a:xfrm>
            <a:off x="8549640" y="4754880"/>
            <a:ext cx="2697480" cy="457200"/>
          </a:xfrm>
          <a:prstGeom prst="rect">
            <a:avLst/>
          </a:prstGeom>
          <a:noFill/>
        </p:spPr>
        <p:txBody>
          <a:bodyPr wrap="square" lIns="0" tIns="0" rIns="0" bIns="0" anchor="t">
            <a:spAutoFit/>
          </a:bodyPr>
          <a:lstStyle/>
          <a:p>
            <a:pPr algn="l"/>
            <a:r>
              <a:rPr sz="1300" b="0" i="0">
                <a:solidFill>
                  <a:srgbClr val="212529"/>
                </a:solidFill>
                <a:latin typeface="Arial"/>
              </a:rPr>
              <a:t>¿Qué urgencia tiene el caso?</a:t>
            </a:r>
          </a:p>
        </p:txBody>
      </p:sp>
      <p:sp>
        <p:nvSpPr>
          <p:cNvPr id="32" name="TextBox 31"/>
          <p:cNvSpPr txBox="1"/>
          <p:nvPr/>
        </p:nvSpPr>
        <p:spPr>
          <a:xfrm>
            <a:off x="8549640" y="5230368"/>
            <a:ext cx="2697480" cy="365760"/>
          </a:xfrm>
          <a:prstGeom prst="rect">
            <a:avLst/>
          </a:prstGeom>
          <a:noFill/>
        </p:spPr>
        <p:txBody>
          <a:bodyPr wrap="square" lIns="0" tIns="0" rIns="0" bIns="0" anchor="t">
            <a:spAutoFit/>
          </a:bodyPr>
          <a:lstStyle/>
          <a:p>
            <a:pPr algn="l"/>
            <a:r>
              <a:rPr sz="1300" b="1" i="0">
                <a:solidFill>
                  <a:srgbClr val="1B3660"/>
                </a:solidFill>
                <a:latin typeface="Arial"/>
              </a:rPr>
              <a:t>alta · p = 0,75</a:t>
            </a:r>
          </a:p>
        </p:txBody>
      </p:sp>
      <p:sp>
        <p:nvSpPr>
          <p:cNvPr id="33" name="TextBox 32"/>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documentación de TypeSafe AI (primitivas choice, noul y score); ejemplos medidos con los scripts de la demostración.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Diseño experimental</a:t>
            </a:r>
          </a:p>
        </p:txBody>
      </p:sp>
      <p:sp>
        <p:nvSpPr>
          <p:cNvPr id="3" name="TextBox 2"/>
          <p:cNvSpPr txBox="1"/>
          <p:nvPr/>
        </p:nvSpPr>
        <p:spPr>
          <a:xfrm>
            <a:off x="548640" y="1572768"/>
            <a:ext cx="6035040" cy="274320"/>
          </a:xfrm>
          <a:prstGeom prst="rect">
            <a:avLst/>
          </a:prstGeom>
          <a:noFill/>
        </p:spPr>
        <p:txBody>
          <a:bodyPr wrap="square" lIns="0" tIns="0" rIns="0" bIns="0" anchor="t">
            <a:spAutoFit/>
          </a:bodyPr>
          <a:lstStyle/>
          <a:p>
            <a:pPr algn="l"/>
            <a:r>
              <a:rPr sz="1200" b="1" i="0">
                <a:solidFill>
                  <a:srgbClr val="5F6B76"/>
                </a:solidFill>
                <a:latin typeface="Arial"/>
              </a:rPr>
              <a:t>Casos evaluados</a:t>
            </a:r>
          </a:p>
        </p:txBody>
      </p:sp>
      <p:graphicFrame>
        <p:nvGraphicFramePr>
          <p:cNvPr id="4" name="Table 3"/>
          <p:cNvGraphicFramePr>
            <a:graphicFrameLocks noGrp="1"/>
          </p:cNvGraphicFramePr>
          <p:nvPr/>
        </p:nvGraphicFramePr>
        <p:xfrm>
          <a:off x="548640" y="1920240"/>
          <a:ext cx="6035040" cy="2103120"/>
        </p:xfrm>
        <a:graphic>
          <a:graphicData uri="http://schemas.openxmlformats.org/drawingml/2006/table">
            <a:tbl>
              <a:tblPr>
                <a:tableStyleId>{2D5ABB26-0587-4C30-8999-92F81FD0307C}</a:tableStyleId>
              </a:tblPr>
              <a:tblGrid>
                <a:gridCol w="23774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20624">
                <a:tc>
                  <a:txBody>
                    <a:bodyPr/>
                    <a:lstStyle/>
                    <a:p>
                      <a:r>
                        <a:rPr sz="1300" b="1">
                          <a:solidFill>
                            <a:srgbClr val="5F6B76"/>
                          </a:solidFill>
                          <a:latin typeface="Arial"/>
                        </a:rPr>
                        <a:t>Caso</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300" b="1">
                          <a:solidFill>
                            <a:srgbClr val="5F6B76"/>
                          </a:solidFill>
                          <a:latin typeface="Arial"/>
                        </a:rPr>
                        <a:t>Preguntas</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300" b="1">
                          <a:solidFill>
                            <a:srgbClr val="5F6B76"/>
                          </a:solidFill>
                          <a:latin typeface="Arial"/>
                        </a:rPr>
                        <a:t>Tipo</a:t>
                      </a:r>
                    </a:p>
                  </a:txBody>
                  <a:tcPr marT="36576" marB="36576" anchor="ctr">
                    <a:lnL w="0">
                      <a:noFill/>
                    </a:lnL>
                    <a:lnR w="0">
                      <a:noFill/>
                    </a:lnR>
                    <a:lnT w="9525">
                      <a:solidFill>
                        <a:srgbClr val="D0D7DE"/>
                      </a:solidFill>
                    </a:lnT>
                    <a:lnB w="9525">
                      <a:solidFill>
                        <a:srgbClr val="D0D7DE"/>
                      </a:solidFill>
                    </a:lnB>
                    <a:solidFill>
                      <a:srgbClr val="F1F3F5"/>
                    </a:solidFill>
                  </a:tcPr>
                </a:tc>
                <a:extLst>
                  <a:ext uri="{0D108BD9-81ED-4DB2-BD59-A6C34878D82A}">
                    <a16:rowId xmlns:a16="http://schemas.microsoft.com/office/drawing/2014/main" val="10000"/>
                  </a:ext>
                </a:extLst>
              </a:tr>
              <a:tr h="420624">
                <a:tc>
                  <a:txBody>
                    <a:bodyPr/>
                    <a:lstStyle/>
                    <a:p>
                      <a:r>
                        <a:rPr sz="1400" b="0">
                          <a:solidFill>
                            <a:srgbClr val="212529"/>
                          </a:solidFill>
                          <a:latin typeface="Arial"/>
                        </a:rPr>
                        <a:t>Mensaje de soporte</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3</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choice, noul, score</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1"/>
                  </a:ext>
                </a:extLst>
              </a:tr>
              <a:tr h="420624">
                <a:tc>
                  <a:txBody>
                    <a:bodyPr/>
                    <a:lstStyle/>
                    <a:p>
                      <a:r>
                        <a:rPr sz="1400" b="0">
                          <a:solidFill>
                            <a:srgbClr val="212529"/>
                          </a:solidFill>
                          <a:latin typeface="Arial"/>
                        </a:rPr>
                        <a:t>Reseña de producto</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1 a 40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noul</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2"/>
                  </a:ext>
                </a:extLst>
              </a:tr>
              <a:tr h="420624">
                <a:tc>
                  <a:txBody>
                    <a:bodyPr/>
                    <a:lstStyle/>
                    <a:p>
                      <a:r>
                        <a:rPr sz="1400" b="0">
                          <a:solidFill>
                            <a:srgbClr val="212529"/>
                          </a:solidFill>
                          <a:latin typeface="Arial"/>
                        </a:rPr>
                        <a:t>Enrutamiento</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1 (30 opciones)</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choice</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3"/>
                  </a:ext>
                </a:extLst>
              </a:tr>
              <a:tr h="420624">
                <a:tc>
                  <a:txBody>
                    <a:bodyPr/>
                    <a:lstStyle/>
                    <a:p>
                      <a:r>
                        <a:rPr sz="1400" b="0">
                          <a:solidFill>
                            <a:srgbClr val="212529"/>
                          </a:solidFill>
                          <a:latin typeface="Arial"/>
                        </a:rPr>
                        <a:t>Moderación</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15 comentarios</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noul</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4"/>
                  </a:ext>
                </a:extLst>
              </a:tr>
            </a:tbl>
          </a:graphicData>
        </a:graphic>
      </p:graphicFrame>
      <p:sp>
        <p:nvSpPr>
          <p:cNvPr id="5" name="TextBox 4"/>
          <p:cNvSpPr txBox="1"/>
          <p:nvPr/>
        </p:nvSpPr>
        <p:spPr>
          <a:xfrm>
            <a:off x="548640" y="4206240"/>
            <a:ext cx="6035040" cy="274320"/>
          </a:xfrm>
          <a:prstGeom prst="rect">
            <a:avLst/>
          </a:prstGeom>
          <a:noFill/>
        </p:spPr>
        <p:txBody>
          <a:bodyPr wrap="square" lIns="0" tIns="0" rIns="0" bIns="0" anchor="t">
            <a:spAutoFit/>
          </a:bodyPr>
          <a:lstStyle/>
          <a:p>
            <a:pPr algn="l"/>
            <a:r>
              <a:rPr sz="1200" b="1" i="0">
                <a:solidFill>
                  <a:srgbClr val="5F6B76"/>
                </a:solidFill>
                <a:latin typeface="Arial"/>
              </a:rPr>
              <a:t>Tamaño de las muestras</a:t>
            </a:r>
          </a:p>
        </p:txBody>
      </p:sp>
      <p:sp>
        <p:nvSpPr>
          <p:cNvPr id="6" name="TextBox 5"/>
          <p:cNvSpPr txBox="1"/>
          <p:nvPr/>
        </p:nvSpPr>
        <p:spPr>
          <a:xfrm>
            <a:off x="548640" y="4526280"/>
            <a:ext cx="6035040" cy="1463040"/>
          </a:xfrm>
          <a:prstGeom prst="rect">
            <a:avLst/>
          </a:prstGeom>
          <a:noFill/>
        </p:spPr>
        <p:txBody>
          <a:bodyPr wrap="square" lIns="0" tIns="0" rIns="0" bIns="0" anchor="t">
            <a:spAutoFit/>
          </a:bodyPr>
          <a:lstStyle/>
          <a:p>
            <a:pPr marL="256032" indent="-256032" algn="l">
              <a:spcAft>
                <a:spcPts val="400"/>
              </a:spcAft>
              <a:buClr>
                <a:srgbClr val="4376B9"/>
              </a:buClr>
              <a:buFont typeface="Arial"/>
              <a:buChar char="•"/>
            </a:pPr>
            <a:r>
              <a:rPr sz="1400" b="0" i="0">
                <a:solidFill>
                  <a:srgbClr val="212529"/>
                </a:solidFill>
                <a:latin typeface="Arial"/>
              </a:rPr>
              <a:t>Latencia: 30 llamadas a Jev y 10 al LLM sobre el mensaje de soporte, más una ejecución por caso.</a:t>
            </a:r>
          </a:p>
          <a:p>
            <a:pPr marL="256032" indent="-256032" algn="l">
              <a:spcAft>
                <a:spcPts val="400"/>
              </a:spcAft>
              <a:buClr>
                <a:srgbClr val="4376B9"/>
              </a:buClr>
              <a:buFont typeface="Arial"/>
              <a:buChar char="•"/>
            </a:pPr>
            <a:r>
              <a:rPr sz="1400" b="0" i="0">
                <a:solidFill>
                  <a:srgbClr val="212529"/>
                </a:solidFill>
                <a:latin typeface="Arial"/>
              </a:rPr>
              <a:t>Escalado: mediana de 3 rondas intercaladas por punto.</a:t>
            </a:r>
          </a:p>
          <a:p>
            <a:pPr marL="256032" indent="-256032" algn="l">
              <a:spcAft>
                <a:spcPts val="400"/>
              </a:spcAft>
              <a:buClr>
                <a:srgbClr val="4376B9"/>
              </a:buClr>
              <a:buFont typeface="Arial"/>
              <a:buChar char="•"/>
            </a:pPr>
            <a:r>
              <a:rPr sz="1400" b="0" i="0">
                <a:solidFill>
                  <a:srgbClr val="212529"/>
                </a:solidFill>
                <a:latin typeface="Arial"/>
              </a:rPr>
              <a:t>Reproducibilidad: 60 llamadas idénticas a Jev. Concordancia: 59 decisiones.</a:t>
            </a:r>
          </a:p>
        </p:txBody>
      </p:sp>
      <p:sp>
        <p:nvSpPr>
          <p:cNvPr id="7" name="Rounded Rectangle 6"/>
          <p:cNvSpPr/>
          <p:nvPr/>
        </p:nvSpPr>
        <p:spPr>
          <a:xfrm>
            <a:off x="6949440" y="1600200"/>
            <a:ext cx="470916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17804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23760" y="1874519"/>
            <a:ext cx="4160520" cy="274320"/>
          </a:xfrm>
          <a:prstGeom prst="rect">
            <a:avLst/>
          </a:prstGeom>
          <a:noFill/>
        </p:spPr>
        <p:txBody>
          <a:bodyPr wrap="square" lIns="0" tIns="0" rIns="0" bIns="0" anchor="t">
            <a:spAutoFit/>
          </a:bodyPr>
          <a:lstStyle/>
          <a:p>
            <a:pPr algn="l"/>
            <a:r>
              <a:rPr sz="1200" b="1" i="0">
                <a:solidFill>
                  <a:srgbClr val="5F6B76"/>
                </a:solidFill>
                <a:latin typeface="Arial"/>
              </a:rPr>
              <a:t>Modelo evaluado</a:t>
            </a:r>
          </a:p>
        </p:txBody>
      </p:sp>
      <p:sp>
        <p:nvSpPr>
          <p:cNvPr id="10" name="TextBox 9"/>
          <p:cNvSpPr txBox="1"/>
          <p:nvPr/>
        </p:nvSpPr>
        <p:spPr>
          <a:xfrm>
            <a:off x="7223760" y="2130552"/>
            <a:ext cx="4160520" cy="502920"/>
          </a:xfrm>
          <a:prstGeom prst="rect">
            <a:avLst/>
          </a:prstGeom>
          <a:noFill/>
        </p:spPr>
        <p:txBody>
          <a:bodyPr wrap="square" lIns="0" tIns="0" rIns="0" bIns="0" anchor="t">
            <a:spAutoFit/>
          </a:bodyPr>
          <a:lstStyle/>
          <a:p>
            <a:pPr algn="l"/>
            <a:r>
              <a:rPr sz="1300" b="0" i="0">
                <a:solidFill>
                  <a:srgbClr val="212529"/>
                </a:solidFill>
                <a:latin typeface="Arial"/>
              </a:rPr>
              <a:t>jev-1.13.0, API de TypeSafe AI</a:t>
            </a:r>
          </a:p>
        </p:txBody>
      </p:sp>
      <p:cxnSp>
        <p:nvCxnSpPr>
          <p:cNvPr id="11" name="Connector 10"/>
          <p:cNvCxnSpPr/>
          <p:nvPr/>
        </p:nvCxnSpPr>
        <p:spPr>
          <a:xfrm>
            <a:off x="7223760" y="2551175"/>
            <a:ext cx="416052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223760" y="2660903"/>
            <a:ext cx="4160520" cy="274320"/>
          </a:xfrm>
          <a:prstGeom prst="rect">
            <a:avLst/>
          </a:prstGeom>
          <a:noFill/>
        </p:spPr>
        <p:txBody>
          <a:bodyPr wrap="square" lIns="0" tIns="0" rIns="0" bIns="0" anchor="t">
            <a:spAutoFit/>
          </a:bodyPr>
          <a:lstStyle/>
          <a:p>
            <a:pPr algn="l"/>
            <a:r>
              <a:rPr sz="1200" b="1" i="0">
                <a:solidFill>
                  <a:srgbClr val="5F6B76"/>
                </a:solidFill>
                <a:latin typeface="Arial"/>
              </a:rPr>
              <a:t>Referencia</a:t>
            </a:r>
          </a:p>
        </p:txBody>
      </p:sp>
      <p:sp>
        <p:nvSpPr>
          <p:cNvPr id="13" name="TextBox 12"/>
          <p:cNvSpPr txBox="1"/>
          <p:nvPr/>
        </p:nvSpPr>
        <p:spPr>
          <a:xfrm>
            <a:off x="7223760" y="2916935"/>
            <a:ext cx="4160520" cy="502920"/>
          </a:xfrm>
          <a:prstGeom prst="rect">
            <a:avLst/>
          </a:prstGeom>
          <a:noFill/>
        </p:spPr>
        <p:txBody>
          <a:bodyPr wrap="square" lIns="0" tIns="0" rIns="0" bIns="0" anchor="t">
            <a:spAutoFit/>
          </a:bodyPr>
          <a:lstStyle/>
          <a:p>
            <a:pPr algn="l"/>
            <a:r>
              <a:rPr sz="1300" b="0" i="0">
                <a:solidFill>
                  <a:srgbClr val="212529"/>
                </a:solidFill>
                <a:latin typeface="Arial"/>
              </a:rPr>
              <a:t>deepseek-chat, temperatura 0, salida JSON e instrucciones equivalentes</a:t>
            </a:r>
          </a:p>
        </p:txBody>
      </p:sp>
      <p:cxnSp>
        <p:nvCxnSpPr>
          <p:cNvPr id="14" name="Connector 13"/>
          <p:cNvCxnSpPr/>
          <p:nvPr/>
        </p:nvCxnSpPr>
        <p:spPr>
          <a:xfrm>
            <a:off x="7223760" y="3337559"/>
            <a:ext cx="416052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223760" y="3447287"/>
            <a:ext cx="4160520" cy="274320"/>
          </a:xfrm>
          <a:prstGeom prst="rect">
            <a:avLst/>
          </a:prstGeom>
          <a:noFill/>
        </p:spPr>
        <p:txBody>
          <a:bodyPr wrap="square" lIns="0" tIns="0" rIns="0" bIns="0" anchor="t">
            <a:spAutoFit/>
          </a:bodyPr>
          <a:lstStyle/>
          <a:p>
            <a:pPr algn="l"/>
            <a:r>
              <a:rPr sz="1200" b="1" i="0">
                <a:solidFill>
                  <a:srgbClr val="5F6B76"/>
                </a:solidFill>
                <a:latin typeface="Arial"/>
              </a:rPr>
              <a:t>Métricas</a:t>
            </a:r>
          </a:p>
        </p:txBody>
      </p:sp>
      <p:sp>
        <p:nvSpPr>
          <p:cNvPr id="16" name="TextBox 15"/>
          <p:cNvSpPr txBox="1"/>
          <p:nvPr/>
        </p:nvSpPr>
        <p:spPr>
          <a:xfrm>
            <a:off x="7223760" y="3703320"/>
            <a:ext cx="4160520" cy="502920"/>
          </a:xfrm>
          <a:prstGeom prst="rect">
            <a:avLst/>
          </a:prstGeom>
          <a:noFill/>
        </p:spPr>
        <p:txBody>
          <a:bodyPr wrap="square" lIns="0" tIns="0" rIns="0" bIns="0" anchor="t">
            <a:spAutoFit/>
          </a:bodyPr>
          <a:lstStyle/>
          <a:p>
            <a:pPr algn="l"/>
            <a:r>
              <a:rPr sz="1300" b="0" i="0">
                <a:solidFill>
                  <a:srgbClr val="212529"/>
                </a:solidFill>
                <a:latin typeface="Arial"/>
              </a:rPr>
              <a:t>Latencia de extremo a extremo, concordancia y reproducibilidad</a:t>
            </a:r>
          </a:p>
        </p:txBody>
      </p:sp>
      <p:cxnSp>
        <p:nvCxnSpPr>
          <p:cNvPr id="17" name="Connector 16"/>
          <p:cNvCxnSpPr/>
          <p:nvPr/>
        </p:nvCxnSpPr>
        <p:spPr>
          <a:xfrm>
            <a:off x="7223760" y="4123944"/>
            <a:ext cx="416052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223760" y="4233672"/>
            <a:ext cx="4160520" cy="274320"/>
          </a:xfrm>
          <a:prstGeom prst="rect">
            <a:avLst/>
          </a:prstGeom>
          <a:noFill/>
        </p:spPr>
        <p:txBody>
          <a:bodyPr wrap="square" lIns="0" tIns="0" rIns="0" bIns="0" anchor="t">
            <a:spAutoFit/>
          </a:bodyPr>
          <a:lstStyle/>
          <a:p>
            <a:pPr algn="l"/>
            <a:r>
              <a:rPr sz="1200" b="1" i="0">
                <a:solidFill>
                  <a:srgbClr val="5F6B76"/>
                </a:solidFill>
                <a:latin typeface="Arial"/>
              </a:rPr>
              <a:t>Regla de decisión</a:t>
            </a:r>
          </a:p>
        </p:txBody>
      </p:sp>
      <p:sp>
        <p:nvSpPr>
          <p:cNvPr id="19" name="TextBox 18"/>
          <p:cNvSpPr txBox="1"/>
          <p:nvPr/>
        </p:nvSpPr>
        <p:spPr>
          <a:xfrm>
            <a:off x="7223760" y="4489704"/>
            <a:ext cx="4160520" cy="502920"/>
          </a:xfrm>
          <a:prstGeom prst="rect">
            <a:avLst/>
          </a:prstGeom>
          <a:noFill/>
        </p:spPr>
        <p:txBody>
          <a:bodyPr wrap="square" lIns="0" tIns="0" rIns="0" bIns="0" anchor="t">
            <a:spAutoFit/>
          </a:bodyPr>
          <a:lstStyle/>
          <a:p>
            <a:pPr algn="l"/>
            <a:r>
              <a:rPr sz="1300" b="0" i="0">
                <a:solidFill>
                  <a:srgbClr val="212529"/>
                </a:solidFill>
                <a:latin typeface="Arial"/>
              </a:rPr>
              <a:t>choice: etiqueta; noul: sí si p ≥ 0,5; score: nivel entero inferior</a:t>
            </a:r>
          </a:p>
        </p:txBody>
      </p:sp>
      <p:cxnSp>
        <p:nvCxnSpPr>
          <p:cNvPr id="20" name="Connector 19"/>
          <p:cNvCxnSpPr/>
          <p:nvPr/>
        </p:nvCxnSpPr>
        <p:spPr>
          <a:xfrm>
            <a:off x="7223760" y="4910328"/>
            <a:ext cx="416052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223760" y="5020056"/>
            <a:ext cx="4160520" cy="274320"/>
          </a:xfrm>
          <a:prstGeom prst="rect">
            <a:avLst/>
          </a:prstGeom>
          <a:noFill/>
        </p:spPr>
        <p:txBody>
          <a:bodyPr wrap="square" lIns="0" tIns="0" rIns="0" bIns="0" anchor="t">
            <a:spAutoFit/>
          </a:bodyPr>
          <a:lstStyle/>
          <a:p>
            <a:pPr algn="l"/>
            <a:r>
              <a:rPr sz="1200" b="1" i="0">
                <a:solidFill>
                  <a:srgbClr val="5F6B76"/>
                </a:solidFill>
                <a:latin typeface="Arial"/>
              </a:rPr>
              <a:t>Entorno</a:t>
            </a:r>
          </a:p>
        </p:txBody>
      </p:sp>
      <p:sp>
        <p:nvSpPr>
          <p:cNvPr id="22" name="TextBox 21"/>
          <p:cNvSpPr txBox="1"/>
          <p:nvPr/>
        </p:nvSpPr>
        <p:spPr>
          <a:xfrm>
            <a:off x="7223760" y="5276088"/>
            <a:ext cx="4160520" cy="502920"/>
          </a:xfrm>
          <a:prstGeom prst="rect">
            <a:avLst/>
          </a:prstGeom>
          <a:noFill/>
        </p:spPr>
        <p:txBody>
          <a:bodyPr wrap="square" lIns="0" tIns="0" rIns="0" bIns="0" anchor="t">
            <a:spAutoFit/>
          </a:bodyPr>
          <a:lstStyle/>
          <a:p>
            <a:pPr algn="l"/>
            <a:r>
              <a:rPr sz="1300" b="0" i="0">
                <a:solidFill>
                  <a:srgbClr val="212529"/>
                </a:solidFill>
                <a:latin typeface="Arial"/>
              </a:rPr>
              <a:t>Python 3.12 en Windows, desde Colombia, con conexiones precalentadas</a:t>
            </a:r>
          </a:p>
        </p:txBody>
      </p:sp>
      <p:sp>
        <p:nvSpPr>
          <p:cNvPr id="23" name="TextBox 22"/>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Mediciones realizadas en septiembre de 2026 con jev-1.13.0 (TypeSafe AI) y deepseek-chat (DeepSeek).</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Latencia por caso: de 2,2 a 4,2 veces menor</a:t>
            </a:r>
          </a:p>
        </p:txBody>
      </p:sp>
      <p:graphicFrame>
        <p:nvGraphicFramePr>
          <p:cNvPr id="3" name="Chart 2"/>
          <p:cNvGraphicFramePr>
            <a:graphicFrameLocks noGrp="1"/>
          </p:cNvGraphicFramePr>
          <p:nvPr/>
        </p:nvGraphicFramePr>
        <p:xfrm>
          <a:off x="548640" y="1554480"/>
          <a:ext cx="73152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8229600" y="1600200"/>
            <a:ext cx="342900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45820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0" y="1801368"/>
            <a:ext cx="2926080" cy="274320"/>
          </a:xfrm>
          <a:prstGeom prst="rect">
            <a:avLst/>
          </a:prstGeom>
          <a:noFill/>
        </p:spPr>
        <p:txBody>
          <a:bodyPr wrap="square" lIns="0" tIns="0" rIns="0" bIns="0" anchor="t">
            <a:spAutoFit/>
          </a:bodyPr>
          <a:lstStyle/>
          <a:p>
            <a:pPr algn="l"/>
            <a:r>
              <a:rPr sz="1200" b="1" i="0">
                <a:solidFill>
                  <a:srgbClr val="5F6B76"/>
                </a:solidFill>
                <a:latin typeface="Arial"/>
              </a:rPr>
              <a:t>Serie repetida · soporte</a:t>
            </a:r>
          </a:p>
        </p:txBody>
      </p:sp>
      <p:sp>
        <p:nvSpPr>
          <p:cNvPr id="7" name="TextBox 6"/>
          <p:cNvSpPr txBox="1"/>
          <p:nvPr/>
        </p:nvSpPr>
        <p:spPr>
          <a:xfrm>
            <a:off x="8503920" y="2240280"/>
            <a:ext cx="2926080" cy="685800"/>
          </a:xfrm>
          <a:prstGeom prst="rect">
            <a:avLst/>
          </a:prstGeom>
          <a:noFill/>
        </p:spPr>
        <p:txBody>
          <a:bodyPr wrap="square" lIns="0" tIns="0" rIns="0" bIns="0" anchor="t">
            <a:spAutoFit/>
          </a:bodyPr>
          <a:lstStyle/>
          <a:p>
            <a:pPr algn="l"/>
            <a:r>
              <a:rPr sz="4000" b="1" i="0">
                <a:solidFill>
                  <a:srgbClr val="4376B9"/>
                </a:solidFill>
                <a:latin typeface="Times New Roman"/>
              </a:rPr>
              <a:t>234 ms</a:t>
            </a:r>
          </a:p>
        </p:txBody>
      </p:sp>
      <p:sp>
        <p:nvSpPr>
          <p:cNvPr id="8" name="TextBox 7"/>
          <p:cNvSpPr txBox="1"/>
          <p:nvPr/>
        </p:nvSpPr>
        <p:spPr>
          <a:xfrm>
            <a:off x="8503920" y="2926080"/>
            <a:ext cx="2926080" cy="548640"/>
          </a:xfrm>
          <a:prstGeom prst="rect">
            <a:avLst/>
          </a:prstGeom>
          <a:noFill/>
        </p:spPr>
        <p:txBody>
          <a:bodyPr wrap="square" lIns="0" tIns="0" rIns="0" bIns="0" anchor="t">
            <a:spAutoFit/>
          </a:bodyPr>
          <a:lstStyle/>
          <a:p>
            <a:pPr algn="l"/>
            <a:r>
              <a:rPr sz="1300" b="0" i="0">
                <a:solidFill>
                  <a:srgbClr val="212529"/>
                </a:solidFill>
                <a:latin typeface="Arial"/>
              </a:rPr>
              <a:t>mediana de Jev (n = 30; p95 = 270 ms)</a:t>
            </a:r>
          </a:p>
        </p:txBody>
      </p:sp>
      <p:cxnSp>
        <p:nvCxnSpPr>
          <p:cNvPr id="9" name="Connector 8"/>
          <p:cNvCxnSpPr/>
          <p:nvPr/>
        </p:nvCxnSpPr>
        <p:spPr>
          <a:xfrm>
            <a:off x="8503920" y="3611880"/>
            <a:ext cx="28803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03920" y="3749039"/>
            <a:ext cx="2926080" cy="685800"/>
          </a:xfrm>
          <a:prstGeom prst="rect">
            <a:avLst/>
          </a:prstGeom>
          <a:noFill/>
        </p:spPr>
        <p:txBody>
          <a:bodyPr wrap="square" lIns="0" tIns="0" rIns="0" bIns="0" anchor="t">
            <a:spAutoFit/>
          </a:bodyPr>
          <a:lstStyle/>
          <a:p>
            <a:pPr algn="l"/>
            <a:r>
              <a:rPr sz="4000" b="1" i="0">
                <a:solidFill>
                  <a:srgbClr val="5F6B76"/>
                </a:solidFill>
                <a:latin typeface="Times New Roman"/>
              </a:rPr>
              <a:t>846 ms</a:t>
            </a:r>
          </a:p>
        </p:txBody>
      </p:sp>
      <p:sp>
        <p:nvSpPr>
          <p:cNvPr id="11" name="TextBox 10"/>
          <p:cNvSpPr txBox="1"/>
          <p:nvPr/>
        </p:nvSpPr>
        <p:spPr>
          <a:xfrm>
            <a:off x="8503920" y="4434840"/>
            <a:ext cx="2926080" cy="548640"/>
          </a:xfrm>
          <a:prstGeom prst="rect">
            <a:avLst/>
          </a:prstGeom>
          <a:noFill/>
        </p:spPr>
        <p:txBody>
          <a:bodyPr wrap="square" lIns="0" tIns="0" rIns="0" bIns="0" anchor="t">
            <a:spAutoFit/>
          </a:bodyPr>
          <a:lstStyle/>
          <a:p>
            <a:pPr algn="l"/>
            <a:r>
              <a:rPr sz="1300" b="0" i="0">
                <a:solidFill>
                  <a:srgbClr val="212529"/>
                </a:solidFill>
                <a:latin typeface="Arial"/>
              </a:rPr>
              <a:t>mediana del LLM (n = 10; p95 = 1.210 ms)</a:t>
            </a:r>
          </a:p>
        </p:txBody>
      </p:sp>
      <p:sp>
        <p:nvSpPr>
          <p:cNvPr id="12" name="TextBox 11"/>
          <p:cNvSpPr txBox="1"/>
          <p:nvPr/>
        </p:nvSpPr>
        <p:spPr>
          <a:xfrm>
            <a:off x="8503920" y="5120640"/>
            <a:ext cx="2926080" cy="640080"/>
          </a:xfrm>
          <a:prstGeom prst="rect">
            <a:avLst/>
          </a:prstGeom>
          <a:noFill/>
        </p:spPr>
        <p:txBody>
          <a:bodyPr wrap="square" lIns="0" tIns="0" rIns="0" bIns="0" anchor="t">
            <a:spAutoFit/>
          </a:bodyPr>
          <a:lstStyle/>
          <a:p>
            <a:pPr algn="l"/>
            <a:r>
              <a:rPr sz="1300" b="1" i="0">
                <a:solidFill>
                  <a:srgbClr val="1B3660"/>
                </a:solidFill>
                <a:latin typeface="Arial"/>
              </a:rPr>
              <a:t>Razón de medianas: 3,6</a:t>
            </a:r>
          </a:p>
        </p:txBody>
      </p:sp>
      <p:sp>
        <p:nvSpPr>
          <p:cNvPr id="13" name="TextBox 12"/>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mediciones propias. Barras: una ejecución por caso, en milisegundos (total 1,34 s frente a 4,48 s). Panel: series repetidas del mismo caso.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La latencia no crece con el número de preguntas</a:t>
            </a:r>
          </a:p>
        </p:txBody>
      </p:sp>
      <p:graphicFrame>
        <p:nvGraphicFramePr>
          <p:cNvPr id="3" name="Chart 2"/>
          <p:cNvGraphicFramePr>
            <a:graphicFrameLocks noGrp="1"/>
          </p:cNvGraphicFramePr>
          <p:nvPr/>
        </p:nvGraphicFramePr>
        <p:xfrm>
          <a:off x="548640" y="1554480"/>
          <a:ext cx="7315200" cy="4434840"/>
        </p:xfrm>
        <a:graphic>
          <a:graphicData uri="http://schemas.openxmlformats.org/drawingml/2006/chart">
            <c:chart xmlns:c="http://schemas.openxmlformats.org/drawingml/2006/chart" xmlns:r="http://schemas.openxmlformats.org/officeDocument/2006/relationships" r:id="rId3"/>
          </a:graphicData>
        </a:graphic>
      </p:graphicFrame>
      <p:sp>
        <p:nvSpPr>
          <p:cNvPr id="4" name="Rounded Rectangle 3"/>
          <p:cNvSpPr/>
          <p:nvPr/>
        </p:nvSpPr>
        <p:spPr>
          <a:xfrm>
            <a:off x="8229600" y="1600200"/>
            <a:ext cx="342900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45820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0" y="1801368"/>
            <a:ext cx="2926080" cy="274320"/>
          </a:xfrm>
          <a:prstGeom prst="rect">
            <a:avLst/>
          </a:prstGeom>
          <a:noFill/>
        </p:spPr>
        <p:txBody>
          <a:bodyPr wrap="square" lIns="0" tIns="0" rIns="0" bIns="0" anchor="t">
            <a:spAutoFit/>
          </a:bodyPr>
          <a:lstStyle/>
          <a:p>
            <a:pPr algn="l"/>
            <a:r>
              <a:rPr sz="1200" b="1" i="0">
                <a:solidFill>
                  <a:srgbClr val="5F6B76"/>
                </a:solidFill>
                <a:latin typeface="Arial"/>
              </a:rPr>
              <a:t>Razón de latencias LLM / Jev</a:t>
            </a:r>
          </a:p>
        </p:txBody>
      </p:sp>
      <p:sp>
        <p:nvSpPr>
          <p:cNvPr id="7" name="TextBox 6"/>
          <p:cNvSpPr txBox="1"/>
          <p:nvPr/>
        </p:nvSpPr>
        <p:spPr>
          <a:xfrm>
            <a:off x="8503920" y="2240280"/>
            <a:ext cx="2926080" cy="685800"/>
          </a:xfrm>
          <a:prstGeom prst="rect">
            <a:avLst/>
          </a:prstGeom>
          <a:noFill/>
        </p:spPr>
        <p:txBody>
          <a:bodyPr wrap="square" lIns="0" tIns="0" rIns="0" bIns="0" anchor="t">
            <a:spAutoFit/>
          </a:bodyPr>
          <a:lstStyle/>
          <a:p>
            <a:pPr algn="l"/>
            <a:r>
              <a:rPr sz="4000" b="1" i="0">
                <a:solidFill>
                  <a:srgbClr val="5F6B76"/>
                </a:solidFill>
                <a:latin typeface="Times New Roman"/>
              </a:rPr>
              <a:t>4,3×</a:t>
            </a:r>
          </a:p>
        </p:txBody>
      </p:sp>
      <p:sp>
        <p:nvSpPr>
          <p:cNvPr id="8" name="TextBox 7"/>
          <p:cNvSpPr txBox="1"/>
          <p:nvPr/>
        </p:nvSpPr>
        <p:spPr>
          <a:xfrm>
            <a:off x="8503920" y="2926080"/>
            <a:ext cx="2926080" cy="365760"/>
          </a:xfrm>
          <a:prstGeom prst="rect">
            <a:avLst/>
          </a:prstGeom>
          <a:noFill/>
        </p:spPr>
        <p:txBody>
          <a:bodyPr wrap="square" lIns="0" tIns="0" rIns="0" bIns="0" anchor="t">
            <a:spAutoFit/>
          </a:bodyPr>
          <a:lstStyle/>
          <a:p>
            <a:pPr algn="l"/>
            <a:r>
              <a:rPr sz="1300" b="0" i="0">
                <a:solidFill>
                  <a:srgbClr val="212529"/>
                </a:solidFill>
                <a:latin typeface="Arial"/>
              </a:rPr>
              <a:t>con 1 pregunta</a:t>
            </a:r>
          </a:p>
        </p:txBody>
      </p:sp>
      <p:cxnSp>
        <p:nvCxnSpPr>
          <p:cNvPr id="9" name="Connector 8"/>
          <p:cNvCxnSpPr/>
          <p:nvPr/>
        </p:nvCxnSpPr>
        <p:spPr>
          <a:xfrm>
            <a:off x="8503920" y="3474720"/>
            <a:ext cx="28803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8503920" y="3611880"/>
            <a:ext cx="2926080" cy="685800"/>
          </a:xfrm>
          <a:prstGeom prst="rect">
            <a:avLst/>
          </a:prstGeom>
          <a:noFill/>
        </p:spPr>
        <p:txBody>
          <a:bodyPr wrap="square" lIns="0" tIns="0" rIns="0" bIns="0" anchor="t">
            <a:spAutoFit/>
          </a:bodyPr>
          <a:lstStyle/>
          <a:p>
            <a:pPr algn="l"/>
            <a:r>
              <a:rPr sz="4000" b="1" i="0">
                <a:solidFill>
                  <a:srgbClr val="4376B9"/>
                </a:solidFill>
                <a:latin typeface="Times New Roman"/>
              </a:rPr>
              <a:t>7,4×</a:t>
            </a:r>
          </a:p>
        </p:txBody>
      </p:sp>
      <p:sp>
        <p:nvSpPr>
          <p:cNvPr id="11" name="TextBox 10"/>
          <p:cNvSpPr txBox="1"/>
          <p:nvPr/>
        </p:nvSpPr>
        <p:spPr>
          <a:xfrm>
            <a:off x="8503920" y="4297680"/>
            <a:ext cx="2926080" cy="365760"/>
          </a:xfrm>
          <a:prstGeom prst="rect">
            <a:avLst/>
          </a:prstGeom>
          <a:noFill/>
        </p:spPr>
        <p:txBody>
          <a:bodyPr wrap="square" lIns="0" tIns="0" rIns="0" bIns="0" anchor="t">
            <a:spAutoFit/>
          </a:bodyPr>
          <a:lstStyle/>
          <a:p>
            <a:pPr algn="l"/>
            <a:r>
              <a:rPr sz="1300" b="0" i="0">
                <a:solidFill>
                  <a:srgbClr val="212529"/>
                </a:solidFill>
                <a:latin typeface="Arial"/>
              </a:rPr>
              <a:t>con 40 preguntas</a:t>
            </a:r>
          </a:p>
        </p:txBody>
      </p:sp>
      <p:sp>
        <p:nvSpPr>
          <p:cNvPr id="12" name="TextBox 11"/>
          <p:cNvSpPr txBox="1"/>
          <p:nvPr/>
        </p:nvSpPr>
        <p:spPr>
          <a:xfrm>
            <a:off x="8503920" y="4846320"/>
            <a:ext cx="2926080" cy="914400"/>
          </a:xfrm>
          <a:prstGeom prst="rect">
            <a:avLst/>
          </a:prstGeom>
          <a:noFill/>
        </p:spPr>
        <p:txBody>
          <a:bodyPr wrap="square" lIns="0" tIns="0" rIns="0" bIns="0" anchor="t">
            <a:spAutoFit/>
          </a:bodyPr>
          <a:lstStyle/>
          <a:p>
            <a:pPr algn="l"/>
            <a:r>
              <a:rPr sz="1300" b="0" i="0">
                <a:solidFill>
                  <a:srgbClr val="1B3660"/>
                </a:solidFill>
                <a:latin typeface="Arial"/>
              </a:rPr>
              <a:t>Jev se mantiene entre 201 y 229 ms; el LLM pasa de 979 a 1.688 ms (+72 %).</a:t>
            </a:r>
          </a:p>
        </p:txBody>
      </p:sp>
      <p:sp>
        <p:nvSpPr>
          <p:cNvPr id="13" name="TextBox 12"/>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mediciones propias. Cada punto es la mediana de 3 rondas intercaladas sobre la misma reseña, con preguntas de tipo noul.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La decisión se repite; la probabilidad varía</a:t>
            </a:r>
          </a:p>
        </p:txBody>
      </p:sp>
      <p:sp>
        <p:nvSpPr>
          <p:cNvPr id="3" name="TextBox 2"/>
          <p:cNvSpPr txBox="1"/>
          <p:nvPr/>
        </p:nvSpPr>
        <p:spPr>
          <a:xfrm>
            <a:off x="548640" y="1645920"/>
            <a:ext cx="3749039" cy="868680"/>
          </a:xfrm>
          <a:prstGeom prst="rect">
            <a:avLst/>
          </a:prstGeom>
          <a:noFill/>
        </p:spPr>
        <p:txBody>
          <a:bodyPr wrap="square" lIns="0" tIns="0" rIns="0" bIns="0" anchor="t">
            <a:spAutoFit/>
          </a:bodyPr>
          <a:lstStyle/>
          <a:p>
            <a:pPr algn="l"/>
            <a:r>
              <a:rPr sz="5400" b="1" i="0">
                <a:solidFill>
                  <a:srgbClr val="4376B9"/>
                </a:solidFill>
                <a:latin typeface="Times New Roman"/>
              </a:rPr>
              <a:t>60 / 60</a:t>
            </a:r>
          </a:p>
        </p:txBody>
      </p:sp>
      <p:sp>
        <p:nvSpPr>
          <p:cNvPr id="4" name="TextBox 3"/>
          <p:cNvSpPr txBox="1"/>
          <p:nvPr/>
        </p:nvSpPr>
        <p:spPr>
          <a:xfrm>
            <a:off x="548640" y="2560320"/>
            <a:ext cx="3749039" cy="640080"/>
          </a:xfrm>
          <a:prstGeom prst="rect">
            <a:avLst/>
          </a:prstGeom>
          <a:noFill/>
        </p:spPr>
        <p:txBody>
          <a:bodyPr wrap="square" lIns="0" tIns="0" rIns="0" bIns="0" anchor="t">
            <a:spAutoFit/>
          </a:bodyPr>
          <a:lstStyle/>
          <a:p>
            <a:pPr algn="l"/>
            <a:r>
              <a:rPr sz="1500" b="0" i="0">
                <a:solidFill>
                  <a:srgbClr val="212529"/>
                </a:solidFill>
                <a:latin typeface="Arial"/>
              </a:rPr>
              <a:t>llamadas idénticas produjeron la misma decisión</a:t>
            </a:r>
          </a:p>
        </p:txBody>
      </p:sp>
      <p:cxnSp>
        <p:nvCxnSpPr>
          <p:cNvPr id="5" name="Connector 4"/>
          <p:cNvCxnSpPr/>
          <p:nvPr/>
        </p:nvCxnSpPr>
        <p:spPr>
          <a:xfrm>
            <a:off x="548640" y="3429000"/>
            <a:ext cx="35661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3611880"/>
            <a:ext cx="3749039" cy="868680"/>
          </a:xfrm>
          <a:prstGeom prst="rect">
            <a:avLst/>
          </a:prstGeom>
          <a:noFill/>
        </p:spPr>
        <p:txBody>
          <a:bodyPr wrap="square" lIns="0" tIns="0" rIns="0" bIns="0" anchor="t">
            <a:spAutoFit/>
          </a:bodyPr>
          <a:lstStyle/>
          <a:p>
            <a:pPr algn="l"/>
            <a:r>
              <a:rPr sz="5400" b="1" i="0">
                <a:solidFill>
                  <a:srgbClr val="5F6B76"/>
                </a:solidFill>
                <a:latin typeface="Times New Roman"/>
              </a:rPr>
              <a:t>≤ 0,08</a:t>
            </a:r>
          </a:p>
        </p:txBody>
      </p:sp>
      <p:sp>
        <p:nvSpPr>
          <p:cNvPr id="7" name="TextBox 6"/>
          <p:cNvSpPr txBox="1"/>
          <p:nvPr/>
        </p:nvSpPr>
        <p:spPr>
          <a:xfrm>
            <a:off x="548640" y="4526280"/>
            <a:ext cx="3749039" cy="640080"/>
          </a:xfrm>
          <a:prstGeom prst="rect">
            <a:avLst/>
          </a:prstGeom>
          <a:noFill/>
        </p:spPr>
        <p:txBody>
          <a:bodyPr wrap="square" lIns="0" tIns="0" rIns="0" bIns="0" anchor="t">
            <a:spAutoFit/>
          </a:bodyPr>
          <a:lstStyle/>
          <a:p>
            <a:pPr algn="l"/>
            <a:r>
              <a:rPr sz="1500" b="0" i="0">
                <a:solidFill>
                  <a:srgbClr val="212529"/>
                </a:solidFill>
                <a:latin typeface="Arial"/>
              </a:rPr>
              <a:t>variación máxima observada en una probabilidad</a:t>
            </a:r>
          </a:p>
        </p:txBody>
      </p:sp>
      <p:graphicFrame>
        <p:nvGraphicFramePr>
          <p:cNvPr id="8" name="Table 7"/>
          <p:cNvGraphicFramePr>
            <a:graphicFrameLocks noGrp="1"/>
          </p:cNvGraphicFramePr>
          <p:nvPr/>
        </p:nvGraphicFramePr>
        <p:xfrm>
          <a:off x="4617720" y="1691640"/>
          <a:ext cx="7040880" cy="2377440"/>
        </p:xfrm>
        <a:graphic>
          <a:graphicData uri="http://schemas.openxmlformats.org/drawingml/2006/table">
            <a:tbl>
              <a:tblPr>
                <a:tableStyleId>{2D5ABB26-0587-4C30-8999-92F81FD0307C}</a:tableStyleId>
              </a:tblPr>
              <a:tblGrid>
                <a:gridCol w="25146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051560">
                  <a:extLst>
                    <a:ext uri="{9D8B030D-6E8A-4147-A177-3AD203B41FA5}">
                      <a16:colId xmlns:a16="http://schemas.microsoft.com/office/drawing/2014/main" val="20004"/>
                    </a:ext>
                  </a:extLst>
                </a:gridCol>
              </a:tblGrid>
              <a:tr h="475488">
                <a:tc>
                  <a:txBody>
                    <a:bodyPr/>
                    <a:lstStyle/>
                    <a:p>
                      <a:r>
                        <a:rPr sz="1200" b="1">
                          <a:solidFill>
                            <a:srgbClr val="5F6B76"/>
                          </a:solidFill>
                          <a:latin typeface="Arial"/>
                        </a:rPr>
                        <a:t>Serie</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200" b="1">
                          <a:solidFill>
                            <a:srgbClr val="5F6B76"/>
                          </a:solidFill>
                          <a:latin typeface="Arial"/>
                        </a:rPr>
                        <a:t>Llamadas</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200" b="1">
                          <a:solidFill>
                            <a:srgbClr val="5F6B76"/>
                          </a:solidFill>
                          <a:latin typeface="Arial"/>
                        </a:rPr>
                        <a:t>Misma decisión</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200" b="1">
                          <a:solidFill>
                            <a:srgbClr val="5F6B76"/>
                          </a:solidFill>
                          <a:latin typeface="Arial"/>
                        </a:rPr>
                        <a:t>Respuestas distintas</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200" b="1">
                          <a:solidFill>
                            <a:srgbClr val="5F6B76"/>
                          </a:solidFill>
                          <a:latin typeface="Arial"/>
                        </a:rPr>
                        <a:t>Variación máx.</a:t>
                      </a:r>
                    </a:p>
                  </a:txBody>
                  <a:tcPr marT="36576" marB="36576" anchor="ctr">
                    <a:lnL w="0">
                      <a:noFill/>
                    </a:lnL>
                    <a:lnR w="0">
                      <a:noFill/>
                    </a:lnR>
                    <a:lnT w="9525">
                      <a:solidFill>
                        <a:srgbClr val="D0D7DE"/>
                      </a:solidFill>
                    </a:lnT>
                    <a:lnB w="9525">
                      <a:solidFill>
                        <a:srgbClr val="D0D7DE"/>
                      </a:solidFill>
                    </a:lnB>
                    <a:solidFill>
                      <a:srgbClr val="F1F3F5"/>
                    </a:solidFill>
                  </a:tcPr>
                </a:tc>
                <a:extLst>
                  <a:ext uri="{0D108BD9-81ED-4DB2-BD59-A6C34878D82A}">
                    <a16:rowId xmlns:a16="http://schemas.microsoft.com/office/drawing/2014/main" val="10000"/>
                  </a:ext>
                </a:extLst>
              </a:tr>
              <a:tr h="475488">
                <a:tc>
                  <a:txBody>
                    <a:bodyPr/>
                    <a:lstStyle/>
                    <a:p>
                      <a:r>
                        <a:rPr sz="1300" b="0">
                          <a:solidFill>
                            <a:srgbClr val="212529"/>
                          </a:solidFill>
                          <a:latin typeface="Arial"/>
                        </a:rPr>
                        <a:t>Soporte (serie 1)</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20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20 / 20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14</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0,06</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1"/>
                  </a:ext>
                </a:extLst>
              </a:tr>
              <a:tr h="475488">
                <a:tc>
                  <a:txBody>
                    <a:bodyPr/>
                    <a:lstStyle/>
                    <a:p>
                      <a:r>
                        <a:rPr sz="1300" b="0">
                          <a:solidFill>
                            <a:srgbClr val="212529"/>
                          </a:solidFill>
                          <a:latin typeface="Arial"/>
                        </a:rPr>
                        <a:t>Soporte (serie 2)</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20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20 / 20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14</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0,08</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2"/>
                  </a:ext>
                </a:extLst>
              </a:tr>
              <a:tr h="475488">
                <a:tc>
                  <a:txBody>
                    <a:bodyPr/>
                    <a:lstStyle/>
                    <a:p>
                      <a:r>
                        <a:rPr sz="1300" b="0">
                          <a:solidFill>
                            <a:srgbClr val="212529"/>
                          </a:solidFill>
                          <a:latin typeface="Arial"/>
                        </a:rPr>
                        <a:t>Enrutamiento ¹</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10 / 10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0,00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3"/>
                  </a:ext>
                </a:extLst>
              </a:tr>
              <a:tr h="475488">
                <a:tc>
                  <a:txBody>
                    <a:bodyPr/>
                    <a:lstStyle/>
                    <a:p>
                      <a:r>
                        <a:rPr sz="1300" b="0">
                          <a:solidFill>
                            <a:srgbClr val="212529"/>
                          </a:solidFill>
                          <a:latin typeface="Arial"/>
                        </a:rPr>
                        <a:t>Reseña · 40 preguntas</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10 / 10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10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300" b="0">
                          <a:solidFill>
                            <a:srgbClr val="212529"/>
                          </a:solidFill>
                          <a:latin typeface="Arial"/>
                        </a:rPr>
                        <a:t>0,05</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4617720" y="4251960"/>
            <a:ext cx="7040880" cy="1645920"/>
          </a:xfrm>
          <a:prstGeom prst="rect">
            <a:avLst/>
          </a:prstGeom>
          <a:noFill/>
        </p:spPr>
        <p:txBody>
          <a:bodyPr wrap="square" lIns="0" tIns="0" rIns="0" bIns="0" anchor="t">
            <a:spAutoFit/>
          </a:bodyPr>
          <a:lstStyle/>
          <a:p>
            <a:pPr algn="l">
              <a:spcAft>
                <a:spcPts val="500"/>
              </a:spcAft>
            </a:pPr>
            <a:r>
              <a:rPr sz="1200" b="0" i="0">
                <a:solidFill>
                  <a:srgbClr val="5F6B76"/>
                </a:solidFill>
                <a:latin typeface="Arial"/>
              </a:rPr>
              <a:t>¹ Caso saturado (p = 1,00): por sí solo no permite evaluar la variación.</a:t>
            </a:r>
          </a:p>
          <a:p>
            <a:pPr algn="l">
              <a:spcAft>
                <a:spcPts val="500"/>
              </a:spcAft>
            </a:pPr>
            <a:r>
              <a:rPr sz="1200" b="0" i="0">
                <a:solidFill>
                  <a:srgbClr val="5F6B76"/>
                </a:solidFill>
                <a:latin typeface="Arial"/>
              </a:rPr>
              <a:t>Referencia: deepseek-chat a temperatura 0 devolvió 20 de 20 salidas idénticas, pero solo etiquetas, sin probabilidades.</a:t>
            </a:r>
          </a:p>
          <a:p>
            <a:pPr algn="l">
              <a:spcAft>
                <a:spcPts val="500"/>
              </a:spcAft>
            </a:pPr>
            <a:r>
              <a:rPr sz="1200" b="0" i="0">
                <a:solidFill>
                  <a:srgbClr val="5F6B76"/>
                </a:solidFill>
                <a:latin typeface="Arial"/>
              </a:rPr>
              <a:t>TypeSafe AI declara que Jev está diseñado para la consistencia de las decisiones, no para el determinismo estricto.</a:t>
            </a:r>
          </a:p>
        </p:txBody>
      </p:sp>
      <p:sp>
        <p:nvSpPr>
          <p:cNvPr id="10" name="TextBox 9"/>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mediciones propias. «Respuestas distintas»: salidas JSON diferentes; la API redondea las probabilidades a dos decimales.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Concordancia con el LLM: 58 de 59 decisiones</a:t>
            </a:r>
          </a:p>
        </p:txBody>
      </p:sp>
      <p:sp>
        <p:nvSpPr>
          <p:cNvPr id="3" name="TextBox 2"/>
          <p:cNvSpPr txBox="1"/>
          <p:nvPr/>
        </p:nvSpPr>
        <p:spPr>
          <a:xfrm>
            <a:off x="548640" y="1645920"/>
            <a:ext cx="4206240" cy="914400"/>
          </a:xfrm>
          <a:prstGeom prst="rect">
            <a:avLst/>
          </a:prstGeom>
          <a:noFill/>
        </p:spPr>
        <p:txBody>
          <a:bodyPr wrap="square" lIns="0" tIns="0" rIns="0" bIns="0" anchor="t">
            <a:spAutoFit/>
          </a:bodyPr>
          <a:lstStyle/>
          <a:p>
            <a:pPr algn="l"/>
            <a:r>
              <a:rPr sz="6000" b="1" i="0">
                <a:solidFill>
                  <a:srgbClr val="4376B9"/>
                </a:solidFill>
                <a:latin typeface="Times New Roman"/>
              </a:rPr>
              <a:t>98,3 %</a:t>
            </a:r>
          </a:p>
        </p:txBody>
      </p:sp>
      <p:sp>
        <p:nvSpPr>
          <p:cNvPr id="4" name="TextBox 3"/>
          <p:cNvSpPr txBox="1"/>
          <p:nvPr/>
        </p:nvSpPr>
        <p:spPr>
          <a:xfrm>
            <a:off x="548640" y="2606040"/>
            <a:ext cx="4206240" cy="365760"/>
          </a:xfrm>
          <a:prstGeom prst="rect">
            <a:avLst/>
          </a:prstGeom>
          <a:noFill/>
        </p:spPr>
        <p:txBody>
          <a:bodyPr wrap="square" lIns="0" tIns="0" rIns="0" bIns="0" anchor="t">
            <a:spAutoFit/>
          </a:bodyPr>
          <a:lstStyle/>
          <a:p>
            <a:pPr algn="l"/>
            <a:r>
              <a:rPr sz="1500" b="0" i="0">
                <a:solidFill>
                  <a:srgbClr val="212529"/>
                </a:solidFill>
                <a:latin typeface="Arial"/>
              </a:rPr>
              <a:t>de decisiones coincidentes con deepseek-chat</a:t>
            </a:r>
          </a:p>
        </p:txBody>
      </p:sp>
      <p:graphicFrame>
        <p:nvGraphicFramePr>
          <p:cNvPr id="5" name="Table 4"/>
          <p:cNvGraphicFramePr>
            <a:graphicFrameLocks noGrp="1"/>
          </p:cNvGraphicFramePr>
          <p:nvPr/>
        </p:nvGraphicFramePr>
        <p:xfrm>
          <a:off x="548640" y="3200400"/>
          <a:ext cx="4206240" cy="2103120"/>
        </p:xfrm>
        <a:graphic>
          <a:graphicData uri="http://schemas.openxmlformats.org/drawingml/2006/table">
            <a:tbl>
              <a:tblPr>
                <a:tableStyleId>{2D5ABB26-0587-4C30-8999-92F81FD0307C}</a:tableStyleId>
              </a:tblPr>
              <a:tblGrid>
                <a:gridCol w="28346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20624">
                <a:tc>
                  <a:txBody>
                    <a:bodyPr/>
                    <a:lstStyle/>
                    <a:p>
                      <a:r>
                        <a:rPr sz="1300" b="1">
                          <a:solidFill>
                            <a:srgbClr val="5F6B76"/>
                          </a:solidFill>
                          <a:latin typeface="Arial"/>
                        </a:rPr>
                        <a:t>Caso</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300" b="1">
                          <a:solidFill>
                            <a:srgbClr val="5F6B76"/>
                          </a:solidFill>
                          <a:latin typeface="Arial"/>
                        </a:rPr>
                        <a:t>Coinciden</a:t>
                      </a:r>
                    </a:p>
                  </a:txBody>
                  <a:tcPr marT="36576" marB="36576" anchor="ctr">
                    <a:lnL w="0">
                      <a:noFill/>
                    </a:lnL>
                    <a:lnR w="0">
                      <a:noFill/>
                    </a:lnR>
                    <a:lnT w="9525">
                      <a:solidFill>
                        <a:srgbClr val="D0D7DE"/>
                      </a:solidFill>
                    </a:lnT>
                    <a:lnB w="9525">
                      <a:solidFill>
                        <a:srgbClr val="D0D7DE"/>
                      </a:solidFill>
                    </a:lnB>
                    <a:solidFill>
                      <a:srgbClr val="F1F3F5"/>
                    </a:solidFill>
                  </a:tcPr>
                </a:tc>
                <a:extLst>
                  <a:ext uri="{0D108BD9-81ED-4DB2-BD59-A6C34878D82A}">
                    <a16:rowId xmlns:a16="http://schemas.microsoft.com/office/drawing/2014/main" val="10000"/>
                  </a:ext>
                </a:extLst>
              </a:tr>
              <a:tr h="420624">
                <a:tc>
                  <a:txBody>
                    <a:bodyPr/>
                    <a:lstStyle/>
                    <a:p>
                      <a:r>
                        <a:rPr sz="1400" b="0">
                          <a:solidFill>
                            <a:srgbClr val="212529"/>
                          </a:solidFill>
                          <a:latin typeface="Arial"/>
                        </a:rPr>
                        <a:t>Mensaje de soporte</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3 / 3</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1"/>
                  </a:ext>
                </a:extLst>
              </a:tr>
              <a:tr h="420624">
                <a:tc>
                  <a:txBody>
                    <a:bodyPr/>
                    <a:lstStyle/>
                    <a:p>
                      <a:r>
                        <a:rPr sz="1400" b="0">
                          <a:solidFill>
                            <a:srgbClr val="212529"/>
                          </a:solidFill>
                          <a:latin typeface="Arial"/>
                        </a:rPr>
                        <a:t>Enrutamiento</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1 / 1</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2"/>
                  </a:ext>
                </a:extLst>
              </a:tr>
              <a:tr h="420624">
                <a:tc>
                  <a:txBody>
                    <a:bodyPr/>
                    <a:lstStyle/>
                    <a:p>
                      <a:r>
                        <a:rPr sz="1400" b="0">
                          <a:solidFill>
                            <a:srgbClr val="212529"/>
                          </a:solidFill>
                          <a:latin typeface="Arial"/>
                        </a:rPr>
                        <a:t>Moderación</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15 / 15</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3"/>
                  </a:ext>
                </a:extLst>
              </a:tr>
              <a:tr h="420624">
                <a:tc>
                  <a:txBody>
                    <a:bodyPr/>
                    <a:lstStyle/>
                    <a:p>
                      <a:r>
                        <a:rPr sz="1400" b="0">
                          <a:solidFill>
                            <a:srgbClr val="212529"/>
                          </a:solidFill>
                          <a:latin typeface="Arial"/>
                        </a:rPr>
                        <a:t>Reseña</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39 / 40</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4"/>
                  </a:ext>
                </a:extLst>
              </a:tr>
            </a:tbl>
          </a:graphicData>
        </a:graphic>
      </p:graphicFrame>
      <p:sp>
        <p:nvSpPr>
          <p:cNvPr id="6" name="Rounded Rectangle 5"/>
          <p:cNvSpPr/>
          <p:nvPr/>
        </p:nvSpPr>
        <p:spPr>
          <a:xfrm>
            <a:off x="5257800" y="1600200"/>
            <a:ext cx="6400800" cy="4343400"/>
          </a:xfrm>
          <a:prstGeom prst="roundRect">
            <a:avLst>
              <a:gd name="adj" fmla="val 4000"/>
            </a:avLst>
          </a:prstGeom>
          <a:solidFill>
            <a:srgbClr val="FFFFFF"/>
          </a:solidFill>
          <a:ln w="9525">
            <a:solidFill>
              <a:srgbClr val="D0D7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486400" y="1600200"/>
            <a:ext cx="1097280" cy="64008"/>
          </a:xfrm>
          <a:prstGeom prst="rect">
            <a:avLst/>
          </a:prstGeom>
          <a:solidFill>
            <a:srgbClr val="4376B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532120" y="1801368"/>
            <a:ext cx="5852160" cy="274320"/>
          </a:xfrm>
          <a:prstGeom prst="rect">
            <a:avLst/>
          </a:prstGeom>
          <a:noFill/>
        </p:spPr>
        <p:txBody>
          <a:bodyPr wrap="square" lIns="0" tIns="0" rIns="0" bIns="0" anchor="t">
            <a:spAutoFit/>
          </a:bodyPr>
          <a:lstStyle/>
          <a:p>
            <a:pPr algn="l"/>
            <a:r>
              <a:rPr sz="1200" b="1" i="0">
                <a:solidFill>
                  <a:srgbClr val="5F6B76"/>
                </a:solidFill>
                <a:latin typeface="Arial"/>
              </a:rPr>
              <a:t>Análisis del único desacuerdo</a:t>
            </a:r>
          </a:p>
        </p:txBody>
      </p:sp>
      <p:sp>
        <p:nvSpPr>
          <p:cNvPr id="9" name="TextBox 8"/>
          <p:cNvSpPr txBox="1"/>
          <p:nvPr/>
        </p:nvSpPr>
        <p:spPr>
          <a:xfrm>
            <a:off x="5532120" y="2194560"/>
            <a:ext cx="5852160" cy="365760"/>
          </a:xfrm>
          <a:prstGeom prst="rect">
            <a:avLst/>
          </a:prstGeom>
          <a:noFill/>
        </p:spPr>
        <p:txBody>
          <a:bodyPr wrap="square" lIns="0" tIns="0" rIns="0" bIns="0" anchor="t">
            <a:spAutoFit/>
          </a:bodyPr>
          <a:lstStyle/>
          <a:p>
            <a:pPr algn="l"/>
            <a:r>
              <a:rPr sz="1500" b="1" i="0">
                <a:solidFill>
                  <a:srgbClr val="212529"/>
                </a:solidFill>
                <a:latin typeface="Arial"/>
              </a:rPr>
              <a:t>Pregunta: ¿dice que el producto llegó dañado?</a:t>
            </a:r>
          </a:p>
        </p:txBody>
      </p:sp>
      <p:sp>
        <p:nvSpPr>
          <p:cNvPr id="10" name="TextBox 9"/>
          <p:cNvSpPr txBox="1"/>
          <p:nvPr/>
        </p:nvSpPr>
        <p:spPr>
          <a:xfrm>
            <a:off x="5532120" y="2606040"/>
            <a:ext cx="5852160" cy="640080"/>
          </a:xfrm>
          <a:prstGeom prst="rect">
            <a:avLst/>
          </a:prstGeom>
          <a:noFill/>
        </p:spPr>
        <p:txBody>
          <a:bodyPr wrap="square" lIns="0" tIns="0" rIns="0" bIns="0" anchor="t">
            <a:spAutoFit/>
          </a:bodyPr>
          <a:lstStyle/>
          <a:p>
            <a:pPr algn="l"/>
            <a:r>
              <a:rPr sz="1500" b="0" i="1">
                <a:solidFill>
                  <a:srgbClr val="5F6B76"/>
                </a:solidFill>
                <a:latin typeface="Arial"/>
              </a:rPr>
              <a:t>«… el envío tardó tres semanas y la caja llegó abollada …»</a:t>
            </a:r>
          </a:p>
        </p:txBody>
      </p:sp>
      <p:graphicFrame>
        <p:nvGraphicFramePr>
          <p:cNvPr id="11" name="Table 10"/>
          <p:cNvGraphicFramePr>
            <a:graphicFrameLocks noGrp="1"/>
          </p:cNvGraphicFramePr>
          <p:nvPr/>
        </p:nvGraphicFramePr>
        <p:xfrm>
          <a:off x="5532120" y="3291840"/>
          <a:ext cx="5852160" cy="82296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411480">
                <a:tc>
                  <a:txBody>
                    <a:bodyPr/>
                    <a:lstStyle/>
                    <a:p>
                      <a:r>
                        <a:rPr sz="1300" b="1">
                          <a:solidFill>
                            <a:srgbClr val="5F6B76"/>
                          </a:solidFill>
                          <a:latin typeface="Arial"/>
                        </a:rPr>
                        <a:t>jev-1.13.0</a:t>
                      </a:r>
                    </a:p>
                  </a:txBody>
                  <a:tcPr marT="36576" marB="36576" anchor="ctr">
                    <a:lnL w="0">
                      <a:noFill/>
                    </a:lnL>
                    <a:lnR w="0">
                      <a:noFill/>
                    </a:lnR>
                    <a:lnT w="9525">
                      <a:solidFill>
                        <a:srgbClr val="D0D7DE"/>
                      </a:solidFill>
                    </a:lnT>
                    <a:lnB w="9525">
                      <a:solidFill>
                        <a:srgbClr val="D0D7DE"/>
                      </a:solidFill>
                    </a:lnB>
                    <a:solidFill>
                      <a:srgbClr val="F1F3F5"/>
                    </a:solidFill>
                  </a:tcPr>
                </a:tc>
                <a:tc>
                  <a:txBody>
                    <a:bodyPr/>
                    <a:lstStyle/>
                    <a:p>
                      <a:pPr algn="ctr"/>
                      <a:r>
                        <a:rPr sz="1300" b="1">
                          <a:solidFill>
                            <a:srgbClr val="5F6B76"/>
                          </a:solidFill>
                          <a:latin typeface="Arial"/>
                        </a:rPr>
                        <a:t>deepseek-chat</a:t>
                      </a:r>
                    </a:p>
                  </a:txBody>
                  <a:tcPr marT="36576" marB="36576" anchor="ctr">
                    <a:lnL w="0">
                      <a:noFill/>
                    </a:lnL>
                    <a:lnR w="0">
                      <a:noFill/>
                    </a:lnR>
                    <a:lnT w="9525">
                      <a:solidFill>
                        <a:srgbClr val="D0D7DE"/>
                      </a:solidFill>
                    </a:lnT>
                    <a:lnB w="9525">
                      <a:solidFill>
                        <a:srgbClr val="D0D7DE"/>
                      </a:solidFill>
                    </a:lnB>
                    <a:solidFill>
                      <a:srgbClr val="F1F3F5"/>
                    </a:solidFill>
                  </a:tcPr>
                </a:tc>
                <a:extLst>
                  <a:ext uri="{0D108BD9-81ED-4DB2-BD59-A6C34878D82A}">
                    <a16:rowId xmlns:a16="http://schemas.microsoft.com/office/drawing/2014/main" val="10000"/>
                  </a:ext>
                </a:extLst>
              </a:tr>
              <a:tr h="411480">
                <a:tc>
                  <a:txBody>
                    <a:bodyPr/>
                    <a:lstStyle/>
                    <a:p>
                      <a:r>
                        <a:rPr sz="1400" b="0">
                          <a:solidFill>
                            <a:srgbClr val="212529"/>
                          </a:solidFill>
                          <a:latin typeface="Arial"/>
                        </a:rPr>
                        <a:t>sí · p = 0,74 – 0,79</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tc>
                  <a:txBody>
                    <a:bodyPr/>
                    <a:lstStyle/>
                    <a:p>
                      <a:pPr algn="ctr"/>
                      <a:r>
                        <a:rPr sz="1400" b="0">
                          <a:solidFill>
                            <a:srgbClr val="212529"/>
                          </a:solidFill>
                          <a:latin typeface="Arial"/>
                        </a:rPr>
                        <a:t>no</a:t>
                      </a:r>
                    </a:p>
                  </a:txBody>
                  <a:tcPr marT="36576" marB="36576" anchor="ctr">
                    <a:lnL w="0">
                      <a:noFill/>
                    </a:lnL>
                    <a:lnR w="0">
                      <a:noFill/>
                    </a:lnR>
                    <a:lnT w="9525" cap="flat" cmpd="sng" algn="ctr">
                      <a:solidFill>
                        <a:srgbClr val="D0D7DE"/>
                      </a:solidFill>
                      <a:prstDash val="solid"/>
                      <a:round/>
                      <a:headEnd type="none" w="med" len="med"/>
                      <a:tailEnd type="none" w="med" len="med"/>
                    </a:lnT>
                    <a:lnB w="9525">
                      <a:solidFill>
                        <a:srgbClr val="D0D7DE"/>
                      </a:solidFill>
                    </a:lnB>
                    <a:solidFill>
                      <a:srgbClr val="FFFFFF"/>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5532120" y="4251960"/>
            <a:ext cx="5852160" cy="1554480"/>
          </a:xfrm>
          <a:prstGeom prst="rect">
            <a:avLst/>
          </a:prstGeom>
          <a:noFill/>
        </p:spPr>
        <p:txBody>
          <a:bodyPr wrap="square" lIns="0" tIns="0" rIns="0" bIns="0" anchor="t">
            <a:spAutoFit/>
          </a:bodyPr>
          <a:lstStyle/>
          <a:p>
            <a:pPr algn="l"/>
            <a:r>
              <a:rPr sz="1400" b="0" i="0">
                <a:solidFill>
                  <a:srgbClr val="212529"/>
                </a:solidFill>
                <a:latin typeface="Arial"/>
              </a:rPr>
              <a:t>Jev infiere un daño del producto a partir del daño del embalaje, algo que el texto no afirma: la respuesta correcta es la del LLM. El desacuerdo se repitió en las 10 repeticiones de la reseña.</a:t>
            </a:r>
          </a:p>
        </p:txBody>
      </p:sp>
      <p:sp>
        <p:nvSpPr>
          <p:cNvPr id="13" name="TextBox 12"/>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mediciones propias. Una ejecución por caso; la reseña se repitió 10 veces con el mismo resultado.</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Ámbito de aplicación y limitaciones</a:t>
            </a:r>
          </a:p>
        </p:txBody>
      </p:sp>
      <p:sp>
        <p:nvSpPr>
          <p:cNvPr id="3" name="TextBox 2"/>
          <p:cNvSpPr txBox="1"/>
          <p:nvPr/>
        </p:nvSpPr>
        <p:spPr>
          <a:xfrm>
            <a:off x="548640" y="1572768"/>
            <a:ext cx="5394960" cy="411480"/>
          </a:xfrm>
          <a:prstGeom prst="rect">
            <a:avLst/>
          </a:prstGeom>
          <a:noFill/>
        </p:spPr>
        <p:txBody>
          <a:bodyPr wrap="square" lIns="0" tIns="0" rIns="0" bIns="0" anchor="t">
            <a:spAutoFit/>
          </a:bodyPr>
          <a:lstStyle/>
          <a:p>
            <a:pPr algn="l"/>
            <a:r>
              <a:rPr sz="2000" b="1" i="0">
                <a:solidFill>
                  <a:srgbClr val="1B3660"/>
                </a:solidFill>
                <a:latin typeface="Times New Roman"/>
              </a:rPr>
              <a:t>Aplicaciones</a:t>
            </a:r>
          </a:p>
        </p:txBody>
      </p:sp>
      <p:sp>
        <p:nvSpPr>
          <p:cNvPr id="4" name="TextBox 3"/>
          <p:cNvSpPr txBox="1"/>
          <p:nvPr/>
        </p:nvSpPr>
        <p:spPr>
          <a:xfrm>
            <a:off x="548640" y="2057400"/>
            <a:ext cx="5394960" cy="2743200"/>
          </a:xfrm>
          <a:prstGeom prst="rect">
            <a:avLst/>
          </a:prstGeom>
          <a:noFill/>
        </p:spPr>
        <p:txBody>
          <a:bodyPr wrap="square" lIns="0" tIns="0" rIns="0" bIns="0" anchor="t">
            <a:spAutoFit/>
          </a:bodyPr>
          <a:lstStyle/>
          <a:p>
            <a:pPr marL="256032" indent="-256032" algn="l">
              <a:spcAft>
                <a:spcPts val="800"/>
              </a:spcAft>
              <a:buClr>
                <a:srgbClr val="4376B9"/>
              </a:buClr>
              <a:buFont typeface="Arial"/>
              <a:buChar char="•"/>
            </a:pPr>
            <a:r>
              <a:rPr sz="1600" b="0" i="0">
                <a:solidFill>
                  <a:srgbClr val="212529"/>
                </a:solidFill>
                <a:latin typeface="Arial"/>
              </a:rPr>
              <a:t>Clasificación y enrutamiento de solicitudes.</a:t>
            </a:r>
          </a:p>
          <a:p>
            <a:pPr marL="256032" indent="-256032" algn="l">
              <a:spcAft>
                <a:spcPts val="800"/>
              </a:spcAft>
              <a:buClr>
                <a:srgbClr val="4376B9"/>
              </a:buClr>
              <a:buFont typeface="Arial"/>
              <a:buChar char="•"/>
            </a:pPr>
            <a:r>
              <a:rPr sz="1600" b="0" i="0">
                <a:solidFill>
                  <a:srgbClr val="212529"/>
                </a:solidFill>
                <a:latin typeface="Arial"/>
              </a:rPr>
              <a:t>Moderación de contenido por lotes.</a:t>
            </a:r>
          </a:p>
          <a:p>
            <a:pPr marL="256032" indent="-256032" algn="l">
              <a:spcAft>
                <a:spcPts val="800"/>
              </a:spcAft>
              <a:buClr>
                <a:srgbClr val="4376B9"/>
              </a:buClr>
              <a:buFont typeface="Arial"/>
              <a:buChar char="•"/>
            </a:pPr>
            <a:r>
              <a:rPr sz="1600" b="0" i="0">
                <a:solidFill>
                  <a:srgbClr val="212529"/>
                </a:solidFill>
                <a:latin typeface="Arial"/>
              </a:rPr>
              <a:t>Priorización y triaje mediante escalas ordinales.</a:t>
            </a:r>
          </a:p>
          <a:p>
            <a:pPr marL="256032" indent="-256032" algn="l">
              <a:spcAft>
                <a:spcPts val="800"/>
              </a:spcAft>
              <a:buClr>
                <a:srgbClr val="4376B9"/>
              </a:buClr>
              <a:buFont typeface="Arial"/>
              <a:buChar char="•"/>
            </a:pPr>
            <a:r>
              <a:rPr sz="1600" b="0" i="0">
                <a:solidFill>
                  <a:srgbClr val="212529"/>
                </a:solidFill>
                <a:latin typeface="Arial"/>
              </a:rPr>
              <a:t>Decisiones en tiempo real con presupuestos de cientos de milisegundos.</a:t>
            </a:r>
          </a:p>
          <a:p>
            <a:pPr marL="256032" indent="-256032" algn="l">
              <a:spcAft>
                <a:spcPts val="800"/>
              </a:spcAft>
              <a:buClr>
                <a:srgbClr val="4376B9"/>
              </a:buClr>
              <a:buFont typeface="Arial"/>
              <a:buChar char="•"/>
            </a:pPr>
            <a:r>
              <a:rPr sz="1600" b="0" i="0">
                <a:solidFill>
                  <a:srgbClr val="212529"/>
                </a:solidFill>
                <a:latin typeface="Arial"/>
              </a:rPr>
              <a:t>Verificación de la salida de un LLM antes de ejecutarla.</a:t>
            </a:r>
          </a:p>
        </p:txBody>
      </p:sp>
      <p:sp>
        <p:nvSpPr>
          <p:cNvPr id="5" name="TextBox 4"/>
          <p:cNvSpPr txBox="1"/>
          <p:nvPr/>
        </p:nvSpPr>
        <p:spPr>
          <a:xfrm>
            <a:off x="6263640" y="1572768"/>
            <a:ext cx="5394960" cy="411480"/>
          </a:xfrm>
          <a:prstGeom prst="rect">
            <a:avLst/>
          </a:prstGeom>
          <a:noFill/>
        </p:spPr>
        <p:txBody>
          <a:bodyPr wrap="square" lIns="0" tIns="0" rIns="0" bIns="0" anchor="t">
            <a:spAutoFit/>
          </a:bodyPr>
          <a:lstStyle/>
          <a:p>
            <a:pPr algn="l"/>
            <a:r>
              <a:rPr sz="2000" b="1" i="0">
                <a:solidFill>
                  <a:srgbClr val="1B3660"/>
                </a:solidFill>
                <a:latin typeface="Times New Roman"/>
              </a:rPr>
              <a:t>Limitaciones</a:t>
            </a:r>
          </a:p>
        </p:txBody>
      </p:sp>
      <p:sp>
        <p:nvSpPr>
          <p:cNvPr id="6" name="TextBox 5"/>
          <p:cNvSpPr txBox="1"/>
          <p:nvPr/>
        </p:nvSpPr>
        <p:spPr>
          <a:xfrm>
            <a:off x="6263640" y="2057400"/>
            <a:ext cx="5394960" cy="2743200"/>
          </a:xfrm>
          <a:prstGeom prst="rect">
            <a:avLst/>
          </a:prstGeom>
          <a:noFill/>
        </p:spPr>
        <p:txBody>
          <a:bodyPr wrap="square" lIns="0" tIns="0" rIns="0" bIns="0" anchor="t">
            <a:spAutoFit/>
          </a:bodyPr>
          <a:lstStyle/>
          <a:p>
            <a:pPr marL="256032" indent="-256032" algn="l">
              <a:spcAft>
                <a:spcPts val="800"/>
              </a:spcAft>
              <a:buClr>
                <a:srgbClr val="4376B9"/>
              </a:buClr>
              <a:buFont typeface="Arial"/>
              <a:buChar char="•"/>
            </a:pPr>
            <a:r>
              <a:rPr sz="1600" b="0" i="0">
                <a:solidFill>
                  <a:srgbClr val="212529"/>
                </a:solidFill>
                <a:latin typeface="Arial"/>
              </a:rPr>
              <a:t>Solo responde preguntas cerradas: no redacta ni razona en abierto.</a:t>
            </a:r>
          </a:p>
          <a:p>
            <a:pPr marL="256032" indent="-256032" algn="l">
              <a:spcAft>
                <a:spcPts val="800"/>
              </a:spcAft>
              <a:buClr>
                <a:srgbClr val="4376B9"/>
              </a:buClr>
              <a:buFont typeface="Arial"/>
              <a:buChar char="•"/>
            </a:pPr>
            <a:r>
              <a:rPr sz="1600" b="0" i="0">
                <a:solidFill>
                  <a:srgbClr val="212529"/>
                </a:solidFill>
                <a:latin typeface="Arial"/>
              </a:rPr>
              <a:t>Dominio acotado: 255 opciones por choice y 10 niveles por score.</a:t>
            </a:r>
          </a:p>
          <a:p>
            <a:pPr marL="256032" indent="-256032" algn="l">
              <a:spcAft>
                <a:spcPts val="800"/>
              </a:spcAft>
              <a:buClr>
                <a:srgbClr val="4376B9"/>
              </a:buClr>
              <a:buFont typeface="Arial"/>
              <a:buChar char="•"/>
            </a:pPr>
            <a:r>
              <a:rPr sz="1600" b="0" i="0">
                <a:solidFill>
                  <a:srgbClr val="212529"/>
                </a:solidFill>
                <a:latin typeface="Arial"/>
              </a:rPr>
              <a:t>Rinde mejor en inglés, según el fabricante.</a:t>
            </a:r>
          </a:p>
          <a:p>
            <a:pPr marL="256032" indent="-256032" algn="l">
              <a:spcAft>
                <a:spcPts val="800"/>
              </a:spcAft>
              <a:buClr>
                <a:srgbClr val="4376B9"/>
              </a:buClr>
              <a:buFont typeface="Arial"/>
              <a:buChar char="•"/>
            </a:pPr>
            <a:r>
              <a:rPr sz="1600" b="0" i="0">
                <a:solidFill>
                  <a:srgbClr val="212529"/>
                </a:solidFill>
                <a:latin typeface="Arial"/>
              </a:rPr>
              <a:t>La latencia medida incluye la red: 0,2–0,3 s desde Colombia; unos 100 ms desde EE. UU., según TypeSafe.</a:t>
            </a:r>
          </a:p>
        </p:txBody>
      </p:sp>
      <p:sp>
        <p:nvSpPr>
          <p:cNvPr id="7" name="Rectangle 6"/>
          <p:cNvSpPr/>
          <p:nvPr/>
        </p:nvSpPr>
        <p:spPr>
          <a:xfrm>
            <a:off x="548640" y="4983480"/>
            <a:ext cx="11109960" cy="960120"/>
          </a:xfrm>
          <a:prstGeom prst="rect">
            <a:avLst/>
          </a:prstGeom>
          <a:solidFill>
            <a:srgbClr val="F1F3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5120640"/>
            <a:ext cx="10652760" cy="731520"/>
          </a:xfrm>
          <a:prstGeom prst="rect">
            <a:avLst/>
          </a:prstGeom>
          <a:noFill/>
        </p:spPr>
        <p:txBody>
          <a:bodyPr wrap="square" lIns="0" tIns="0" rIns="0" bIns="0" anchor="t">
            <a:spAutoFit/>
          </a:bodyPr>
          <a:lstStyle/>
          <a:p>
            <a:pPr algn="l"/>
            <a:r>
              <a:rPr sz="1400" b="1" i="0">
                <a:solidFill>
                  <a:srgbClr val="1B3660"/>
                </a:solidFill>
                <a:latin typeface="Arial"/>
              </a:rPr>
              <a:t>Alcance del estudio. </a:t>
            </a:r>
            <a:r>
              <a:rPr sz="1400" b="0" i="0">
                <a:solidFill>
                  <a:srgbClr val="212529"/>
                </a:solidFill>
                <a:latin typeface="Arial"/>
              </a:rPr>
              <a:t>Cuatro casos redactados para la prueba, en español, con 59 decisiones. La concordancia con un LLM no mide exactitud; para ello haría falta un conjunto etiquetado por personas.</a:t>
            </a:r>
          </a:p>
        </p:txBody>
      </p:sp>
      <p:sp>
        <p:nvSpPr>
          <p:cNvPr id="9" name="TextBox 8"/>
          <p:cNvSpPr txBox="1"/>
          <p:nvPr/>
        </p:nvSpPr>
        <p:spPr>
          <a:xfrm>
            <a:off x="548640" y="6089904"/>
            <a:ext cx="11109960" cy="274320"/>
          </a:xfrm>
          <a:prstGeom prst="rect">
            <a:avLst/>
          </a:prstGeom>
          <a:noFill/>
        </p:spPr>
        <p:txBody>
          <a:bodyPr wrap="square" lIns="0" tIns="0" rIns="0" bIns="0" anchor="t">
            <a:spAutoFit/>
          </a:bodyPr>
          <a:lstStyle/>
          <a:p>
            <a:pPr algn="l"/>
            <a:r>
              <a:rPr sz="1000" b="0" i="1">
                <a:solidFill>
                  <a:srgbClr val="5F6B76"/>
                </a:solidFill>
                <a:latin typeface="Arial"/>
              </a:rPr>
              <a:t>Fuente: mediciones propias y documentación de TypeSafe AI.</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Conclusiones</a:t>
            </a:r>
          </a:p>
        </p:txBody>
      </p:sp>
      <p:sp>
        <p:nvSpPr>
          <p:cNvPr id="3" name="TextBox 2"/>
          <p:cNvSpPr txBox="1"/>
          <p:nvPr/>
        </p:nvSpPr>
        <p:spPr>
          <a:xfrm>
            <a:off x="548640" y="1600200"/>
            <a:ext cx="640080" cy="731520"/>
          </a:xfrm>
          <a:prstGeom prst="rect">
            <a:avLst/>
          </a:prstGeom>
          <a:noFill/>
        </p:spPr>
        <p:txBody>
          <a:bodyPr wrap="square" lIns="0" tIns="0" rIns="0" bIns="0" anchor="t">
            <a:spAutoFit/>
          </a:bodyPr>
          <a:lstStyle/>
          <a:p>
            <a:pPr algn="l"/>
            <a:r>
              <a:rPr sz="3600" b="1" i="0">
                <a:solidFill>
                  <a:srgbClr val="4376B9"/>
                </a:solidFill>
                <a:latin typeface="Times New Roman"/>
              </a:rPr>
              <a:t>1</a:t>
            </a:r>
          </a:p>
        </p:txBody>
      </p:sp>
      <p:sp>
        <p:nvSpPr>
          <p:cNvPr id="4" name="TextBox 3"/>
          <p:cNvSpPr txBox="1"/>
          <p:nvPr/>
        </p:nvSpPr>
        <p:spPr>
          <a:xfrm>
            <a:off x="1280160" y="1645920"/>
            <a:ext cx="2377440" cy="457200"/>
          </a:xfrm>
          <a:prstGeom prst="rect">
            <a:avLst/>
          </a:prstGeom>
          <a:noFill/>
        </p:spPr>
        <p:txBody>
          <a:bodyPr wrap="square" lIns="0" tIns="0" rIns="0" bIns="0" anchor="t">
            <a:spAutoFit/>
          </a:bodyPr>
          <a:lstStyle/>
          <a:p>
            <a:pPr algn="l"/>
            <a:r>
              <a:rPr sz="1800" b="1" i="0">
                <a:solidFill>
                  <a:srgbClr val="1B3660"/>
                </a:solidFill>
                <a:latin typeface="Times New Roman"/>
              </a:rPr>
              <a:t>Latencia</a:t>
            </a:r>
          </a:p>
        </p:txBody>
      </p:sp>
      <p:sp>
        <p:nvSpPr>
          <p:cNvPr id="5" name="TextBox 4"/>
          <p:cNvSpPr txBox="1"/>
          <p:nvPr/>
        </p:nvSpPr>
        <p:spPr>
          <a:xfrm>
            <a:off x="3657600" y="1664208"/>
            <a:ext cx="8001000" cy="868680"/>
          </a:xfrm>
          <a:prstGeom prst="rect">
            <a:avLst/>
          </a:prstGeom>
          <a:noFill/>
        </p:spPr>
        <p:txBody>
          <a:bodyPr wrap="square" lIns="0" tIns="0" rIns="0" bIns="0" anchor="t">
            <a:spAutoFit/>
          </a:bodyPr>
          <a:lstStyle/>
          <a:p>
            <a:pPr algn="l"/>
            <a:r>
              <a:rPr sz="1600" b="0" i="0">
                <a:solidFill>
                  <a:srgbClr val="212529"/>
                </a:solidFill>
                <a:latin typeface="Arial"/>
              </a:rPr>
              <a:t>Mediana de 234 ms, entre 3,6 y 7,4 veces menor que la del LLM de referencia en las series repetidas, sin aumento apreciable entre 1 y 40 preguntas.</a:t>
            </a:r>
          </a:p>
        </p:txBody>
      </p:sp>
      <p:cxnSp>
        <p:nvCxnSpPr>
          <p:cNvPr id="6" name="Connector 5"/>
          <p:cNvCxnSpPr/>
          <p:nvPr/>
        </p:nvCxnSpPr>
        <p:spPr>
          <a:xfrm>
            <a:off x="548640" y="2560320"/>
            <a:ext cx="111099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679192"/>
            <a:ext cx="640080" cy="731520"/>
          </a:xfrm>
          <a:prstGeom prst="rect">
            <a:avLst/>
          </a:prstGeom>
          <a:noFill/>
        </p:spPr>
        <p:txBody>
          <a:bodyPr wrap="square" lIns="0" tIns="0" rIns="0" bIns="0" anchor="t">
            <a:spAutoFit/>
          </a:bodyPr>
          <a:lstStyle/>
          <a:p>
            <a:pPr algn="l"/>
            <a:r>
              <a:rPr sz="3600" b="1" i="0">
                <a:solidFill>
                  <a:srgbClr val="4376B9"/>
                </a:solidFill>
                <a:latin typeface="Times New Roman"/>
              </a:rPr>
              <a:t>2</a:t>
            </a:r>
          </a:p>
        </p:txBody>
      </p:sp>
      <p:sp>
        <p:nvSpPr>
          <p:cNvPr id="8" name="TextBox 7"/>
          <p:cNvSpPr txBox="1"/>
          <p:nvPr/>
        </p:nvSpPr>
        <p:spPr>
          <a:xfrm>
            <a:off x="1280160" y="2724912"/>
            <a:ext cx="2377440" cy="457200"/>
          </a:xfrm>
          <a:prstGeom prst="rect">
            <a:avLst/>
          </a:prstGeom>
          <a:noFill/>
        </p:spPr>
        <p:txBody>
          <a:bodyPr wrap="square" lIns="0" tIns="0" rIns="0" bIns="0" anchor="t">
            <a:spAutoFit/>
          </a:bodyPr>
          <a:lstStyle/>
          <a:p>
            <a:pPr algn="l"/>
            <a:r>
              <a:rPr sz="1800" b="1" i="0">
                <a:solidFill>
                  <a:srgbClr val="1B3660"/>
                </a:solidFill>
                <a:latin typeface="Times New Roman"/>
              </a:rPr>
              <a:t>Concordancia</a:t>
            </a:r>
          </a:p>
        </p:txBody>
      </p:sp>
      <p:sp>
        <p:nvSpPr>
          <p:cNvPr id="9" name="TextBox 8"/>
          <p:cNvSpPr txBox="1"/>
          <p:nvPr/>
        </p:nvSpPr>
        <p:spPr>
          <a:xfrm>
            <a:off x="3657600" y="2743200"/>
            <a:ext cx="8001000" cy="868680"/>
          </a:xfrm>
          <a:prstGeom prst="rect">
            <a:avLst/>
          </a:prstGeom>
          <a:noFill/>
        </p:spPr>
        <p:txBody>
          <a:bodyPr wrap="square" lIns="0" tIns="0" rIns="0" bIns="0" anchor="t">
            <a:spAutoFit/>
          </a:bodyPr>
          <a:lstStyle/>
          <a:p>
            <a:pPr algn="l"/>
            <a:r>
              <a:rPr sz="1600" b="0" i="0">
                <a:solidFill>
                  <a:srgbClr val="212529"/>
                </a:solidFill>
                <a:latin typeface="Arial"/>
              </a:rPr>
              <a:t>58 de 59 decisiones coinciden con el LLM; el único desacuerdo es un error de interpretación de Jev.</a:t>
            </a:r>
          </a:p>
        </p:txBody>
      </p:sp>
      <p:cxnSp>
        <p:nvCxnSpPr>
          <p:cNvPr id="10" name="Connector 9"/>
          <p:cNvCxnSpPr/>
          <p:nvPr/>
        </p:nvCxnSpPr>
        <p:spPr>
          <a:xfrm>
            <a:off x="548640" y="3639312"/>
            <a:ext cx="111099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3758184"/>
            <a:ext cx="640080" cy="731520"/>
          </a:xfrm>
          <a:prstGeom prst="rect">
            <a:avLst/>
          </a:prstGeom>
          <a:noFill/>
        </p:spPr>
        <p:txBody>
          <a:bodyPr wrap="square" lIns="0" tIns="0" rIns="0" bIns="0" anchor="t">
            <a:spAutoFit/>
          </a:bodyPr>
          <a:lstStyle/>
          <a:p>
            <a:pPr algn="l"/>
            <a:r>
              <a:rPr sz="3600" b="1" i="0">
                <a:solidFill>
                  <a:srgbClr val="4376B9"/>
                </a:solidFill>
                <a:latin typeface="Times New Roman"/>
              </a:rPr>
              <a:t>3</a:t>
            </a:r>
          </a:p>
        </p:txBody>
      </p:sp>
      <p:sp>
        <p:nvSpPr>
          <p:cNvPr id="12" name="TextBox 11"/>
          <p:cNvSpPr txBox="1"/>
          <p:nvPr/>
        </p:nvSpPr>
        <p:spPr>
          <a:xfrm>
            <a:off x="1280160" y="3803904"/>
            <a:ext cx="2377440" cy="457200"/>
          </a:xfrm>
          <a:prstGeom prst="rect">
            <a:avLst/>
          </a:prstGeom>
          <a:noFill/>
        </p:spPr>
        <p:txBody>
          <a:bodyPr wrap="square" lIns="0" tIns="0" rIns="0" bIns="0" anchor="t">
            <a:spAutoFit/>
          </a:bodyPr>
          <a:lstStyle/>
          <a:p>
            <a:pPr algn="l"/>
            <a:r>
              <a:rPr sz="1800" b="1" i="0">
                <a:solidFill>
                  <a:srgbClr val="1B3660"/>
                </a:solidFill>
                <a:latin typeface="Times New Roman"/>
              </a:rPr>
              <a:t>Reproducibilidad</a:t>
            </a:r>
          </a:p>
        </p:txBody>
      </p:sp>
      <p:sp>
        <p:nvSpPr>
          <p:cNvPr id="13" name="TextBox 12"/>
          <p:cNvSpPr txBox="1"/>
          <p:nvPr/>
        </p:nvSpPr>
        <p:spPr>
          <a:xfrm>
            <a:off x="3657600" y="3822191"/>
            <a:ext cx="8001000" cy="868680"/>
          </a:xfrm>
          <a:prstGeom prst="rect">
            <a:avLst/>
          </a:prstGeom>
          <a:noFill/>
        </p:spPr>
        <p:txBody>
          <a:bodyPr wrap="square" lIns="0" tIns="0" rIns="0" bIns="0" anchor="t">
            <a:spAutoFit/>
          </a:bodyPr>
          <a:lstStyle/>
          <a:p>
            <a:pPr algn="l"/>
            <a:r>
              <a:rPr sz="1600" b="0" i="0">
                <a:solidFill>
                  <a:srgbClr val="212529"/>
                </a:solidFill>
                <a:latin typeface="Arial"/>
              </a:rPr>
              <a:t>La decisión fue idéntica en 60 de 60 llamadas repetidas; las probabilidades varían como máximo 0,08.</a:t>
            </a:r>
          </a:p>
        </p:txBody>
      </p:sp>
      <p:cxnSp>
        <p:nvCxnSpPr>
          <p:cNvPr id="14" name="Connector 13"/>
          <p:cNvCxnSpPr/>
          <p:nvPr/>
        </p:nvCxnSpPr>
        <p:spPr>
          <a:xfrm>
            <a:off x="548640" y="4718304"/>
            <a:ext cx="11109960" cy="0"/>
          </a:xfrm>
          <a:prstGeom prst="line">
            <a:avLst/>
          </a:prstGeom>
          <a:ln w="9525">
            <a:solidFill>
              <a:srgbClr val="D0D7DE"/>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48640" y="4837176"/>
            <a:ext cx="640080" cy="731520"/>
          </a:xfrm>
          <a:prstGeom prst="rect">
            <a:avLst/>
          </a:prstGeom>
          <a:noFill/>
        </p:spPr>
        <p:txBody>
          <a:bodyPr wrap="square" lIns="0" tIns="0" rIns="0" bIns="0" anchor="t">
            <a:spAutoFit/>
          </a:bodyPr>
          <a:lstStyle/>
          <a:p>
            <a:pPr algn="l"/>
            <a:r>
              <a:rPr sz="3600" b="1" i="0">
                <a:solidFill>
                  <a:srgbClr val="4376B9"/>
                </a:solidFill>
                <a:latin typeface="Times New Roman"/>
              </a:rPr>
              <a:t>4</a:t>
            </a:r>
          </a:p>
        </p:txBody>
      </p:sp>
      <p:sp>
        <p:nvSpPr>
          <p:cNvPr id="16" name="TextBox 15"/>
          <p:cNvSpPr txBox="1"/>
          <p:nvPr/>
        </p:nvSpPr>
        <p:spPr>
          <a:xfrm>
            <a:off x="1280160" y="4882896"/>
            <a:ext cx="2377440" cy="457200"/>
          </a:xfrm>
          <a:prstGeom prst="rect">
            <a:avLst/>
          </a:prstGeom>
          <a:noFill/>
        </p:spPr>
        <p:txBody>
          <a:bodyPr wrap="square" lIns="0" tIns="0" rIns="0" bIns="0" anchor="t">
            <a:spAutoFit/>
          </a:bodyPr>
          <a:lstStyle/>
          <a:p>
            <a:pPr algn="l"/>
            <a:r>
              <a:rPr sz="1800" b="1" i="0">
                <a:solidFill>
                  <a:srgbClr val="1B3660"/>
                </a:solidFill>
                <a:latin typeface="Times New Roman"/>
              </a:rPr>
              <a:t>Ámbito</a:t>
            </a:r>
          </a:p>
        </p:txBody>
      </p:sp>
      <p:sp>
        <p:nvSpPr>
          <p:cNvPr id="17" name="TextBox 16"/>
          <p:cNvSpPr txBox="1"/>
          <p:nvPr/>
        </p:nvSpPr>
        <p:spPr>
          <a:xfrm>
            <a:off x="3657600" y="4901183"/>
            <a:ext cx="8001000" cy="868680"/>
          </a:xfrm>
          <a:prstGeom prst="rect">
            <a:avLst/>
          </a:prstGeom>
          <a:noFill/>
        </p:spPr>
        <p:txBody>
          <a:bodyPr wrap="square" lIns="0" tIns="0" rIns="0" bIns="0" anchor="t">
            <a:spAutoFit/>
          </a:bodyPr>
          <a:lstStyle/>
          <a:p>
            <a:pPr algn="l"/>
            <a:r>
              <a:rPr sz="1600" b="0" i="0">
                <a:solidFill>
                  <a:srgbClr val="212529"/>
                </a:solidFill>
                <a:latin typeface="Arial"/>
              </a:rPr>
              <a:t>Complementa al LLM en decisiones cerradas y frecuentes; no lo sustituye en tareas abiertas de generación o razonamiento.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06040" y="457200"/>
            <a:ext cx="9098280" cy="914400"/>
          </a:xfrm>
        </p:spPr>
        <p:txBody>
          <a:bodyPr wrap="square" anchor="ctr"/>
          <a:lstStyle/>
          <a:p>
            <a:pPr algn="l"/>
            <a:r>
              <a:rPr sz="3000">
                <a:solidFill>
                  <a:srgbClr val="1B3660"/>
                </a:solidFill>
                <a:latin typeface="Times New Roman"/>
              </a:rPr>
              <a:t>Referencias</a:t>
            </a:r>
          </a:p>
        </p:txBody>
      </p:sp>
      <p:sp>
        <p:nvSpPr>
          <p:cNvPr id="3" name="TextBox 2"/>
          <p:cNvSpPr txBox="1"/>
          <p:nvPr/>
        </p:nvSpPr>
        <p:spPr>
          <a:xfrm>
            <a:off x="548640" y="1645920"/>
            <a:ext cx="11109960" cy="4297680"/>
          </a:xfrm>
          <a:prstGeom prst="rect">
            <a:avLst/>
          </a:prstGeom>
          <a:noFill/>
        </p:spPr>
        <p:txBody>
          <a:bodyPr wrap="square" lIns="0" tIns="0" rIns="0" bIns="0" anchor="t">
            <a:spAutoFit/>
          </a:bodyPr>
          <a:lstStyle/>
          <a:p>
            <a:pPr marL="457200" indent="-457200" algn="l">
              <a:spcAft>
                <a:spcPts val="1000"/>
              </a:spcAft>
            </a:pPr>
            <a:r>
              <a:rPr sz="1500" b="0" i="0">
                <a:solidFill>
                  <a:srgbClr val="212529"/>
                </a:solidFill>
                <a:latin typeface="Arial"/>
              </a:rPr>
              <a:t>Almeida, D. (2026, 15 de septiembre). </a:t>
            </a:r>
            <a:r>
              <a:rPr sz="1500" b="0" i="1">
                <a:solidFill>
                  <a:srgbClr val="212529"/>
                </a:solidFill>
                <a:latin typeface="Arial"/>
              </a:rPr>
              <a:t>Introducing System One models and Jev</a:t>
            </a:r>
            <a:r>
              <a:rPr sz="1500" b="0" i="0">
                <a:solidFill>
                  <a:srgbClr val="212529"/>
                </a:solidFill>
                <a:latin typeface="Arial"/>
              </a:rPr>
              <a:t>. TypeSafe AI. https://typesafe.ai/blog/introducing-system-one-models-and-jev</a:t>
            </a:r>
          </a:p>
          <a:p>
            <a:pPr marL="457200" indent="-457200" algn="l">
              <a:spcAft>
                <a:spcPts val="1000"/>
              </a:spcAft>
            </a:pPr>
            <a:r>
              <a:rPr sz="1500" b="0" i="0">
                <a:solidFill>
                  <a:srgbClr val="212529"/>
                </a:solidFill>
                <a:latin typeface="Arial"/>
              </a:rPr>
              <a:t>TypeSafe AI. (2026). </a:t>
            </a:r>
            <a:r>
              <a:rPr sz="1500" b="0" i="1">
                <a:solidFill>
                  <a:srgbClr val="212529"/>
                </a:solidFill>
                <a:latin typeface="Arial"/>
              </a:rPr>
              <a:t>System One models</a:t>
            </a:r>
            <a:r>
              <a:rPr sz="1500" b="0" i="0">
                <a:solidFill>
                  <a:srgbClr val="212529"/>
                </a:solidFill>
                <a:latin typeface="Arial"/>
              </a:rPr>
              <a:t> [Documentación]. https://docs.typesafe.ai/concepts/system-one</a:t>
            </a:r>
          </a:p>
          <a:p>
            <a:pPr marL="457200" indent="-457200" algn="l">
              <a:spcAft>
                <a:spcPts val="1000"/>
              </a:spcAft>
            </a:pPr>
            <a:r>
              <a:rPr sz="1500" b="0" i="0">
                <a:solidFill>
                  <a:srgbClr val="212529"/>
                </a:solidFill>
                <a:latin typeface="Arial"/>
              </a:rPr>
              <a:t>TypeSafe AI. (2026). </a:t>
            </a:r>
            <a:r>
              <a:rPr sz="1500" b="0" i="1">
                <a:solidFill>
                  <a:srgbClr val="212529"/>
                </a:solidFill>
                <a:latin typeface="Arial"/>
              </a:rPr>
              <a:t>Models</a:t>
            </a:r>
            <a:r>
              <a:rPr sz="1500" b="0" i="0">
                <a:solidFill>
                  <a:srgbClr val="212529"/>
                </a:solidFill>
                <a:latin typeface="Arial"/>
              </a:rPr>
              <a:t> [Documentación]. https://docs.typesafe.ai/models</a:t>
            </a:r>
          </a:p>
          <a:p>
            <a:pPr marL="457200" indent="-457200" algn="l">
              <a:spcAft>
                <a:spcPts val="1000"/>
              </a:spcAft>
            </a:pPr>
            <a:r>
              <a:rPr sz="1500" b="0" i="0">
                <a:solidFill>
                  <a:srgbClr val="212529"/>
                </a:solidFill>
                <a:latin typeface="Arial"/>
              </a:rPr>
              <a:t>TypeSafe AI. (2026). </a:t>
            </a:r>
            <a:r>
              <a:rPr sz="1500" b="0" i="1">
                <a:solidFill>
                  <a:srgbClr val="212529"/>
                </a:solidFill>
                <a:latin typeface="Arial"/>
              </a:rPr>
              <a:t>Primitives</a:t>
            </a:r>
            <a:r>
              <a:rPr sz="1500" b="0" i="0">
                <a:solidFill>
                  <a:srgbClr val="212529"/>
                </a:solidFill>
                <a:latin typeface="Arial"/>
              </a:rPr>
              <a:t> [Documentación]. https://docs.typesafe.ai/primitives</a:t>
            </a:r>
          </a:p>
          <a:p>
            <a:pPr marL="457200" indent="-457200" algn="l">
              <a:spcAft>
                <a:spcPts val="1000"/>
              </a:spcAft>
            </a:pPr>
            <a:r>
              <a:rPr sz="1500" b="0" i="0">
                <a:solidFill>
                  <a:srgbClr val="212529"/>
                </a:solidFill>
                <a:latin typeface="Arial"/>
              </a:rPr>
              <a:t>Kahneman, D. (2011). </a:t>
            </a:r>
            <a:r>
              <a:rPr sz="1500" b="0" i="1">
                <a:solidFill>
                  <a:srgbClr val="212529"/>
                </a:solidFill>
                <a:latin typeface="Arial"/>
              </a:rPr>
              <a:t>Thinking, fast and slow</a:t>
            </a:r>
            <a:r>
              <a:rPr sz="1500" b="0" i="0">
                <a:solidFill>
                  <a:srgbClr val="212529"/>
                </a:solidFill>
                <a:latin typeface="Arial"/>
              </a:rPr>
              <a:t>. Farrar, Straus and Giroux.</a:t>
            </a:r>
          </a:p>
          <a:p>
            <a:pPr marL="457200" indent="-457200" algn="l">
              <a:spcAft>
                <a:spcPts val="1000"/>
              </a:spcAft>
            </a:pPr>
            <a:r>
              <a:rPr sz="1500" b="0" i="0">
                <a:solidFill>
                  <a:srgbClr val="212529"/>
                </a:solidFill>
                <a:latin typeface="Arial"/>
              </a:rPr>
              <a:t>DeepSeek. (2026). </a:t>
            </a:r>
            <a:r>
              <a:rPr sz="1500" b="0" i="1">
                <a:solidFill>
                  <a:srgbClr val="212529"/>
                </a:solidFill>
                <a:latin typeface="Arial"/>
              </a:rPr>
              <a:t>DeepSeek API documentation</a:t>
            </a:r>
            <a:r>
              <a:rPr sz="1500" b="0" i="0">
                <a:solidFill>
                  <a:srgbClr val="212529"/>
                </a:solidFill>
                <a:latin typeface="Arial"/>
              </a:rPr>
              <a:t>. https://api-docs.deepseek.com</a:t>
            </a:r>
          </a:p>
        </p:txBody>
      </p:sp>
    </p:spTree>
  </p:cSld>
  <p:clrMapOvr>
    <a:masterClrMapping/>
  </p:clrMapOvr>
</p:sld>
</file>

<file path=ppt/theme/theme1.xml><?xml version="1.0" encoding="utf-8"?>
<a:theme xmlns:a="http://schemas.openxmlformats.org/drawingml/2006/main" name="Tema de Office">
  <a:themeElements>
    <a:clrScheme name="Azul cálido">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Estilo UAJS">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ción1" id="{11633F92-79E0-48D3-993A-D2FDEA5ADAB8}" vid="{B9E5370E-4578-42ED-8FE2-218625D54078}"/>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424</TotalTime>
  <Words>2675</Words>
  <Application>Microsoft Office PowerPoint</Application>
  <PresentationFormat>Panorámica</PresentationFormat>
  <Paragraphs>245</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Times New Roman</vt:lpstr>
      <vt:lpstr>custom_heading_font</vt:lpstr>
      <vt:lpstr>Arial</vt:lpstr>
      <vt:lpstr>Aptos</vt:lpstr>
      <vt:lpstr>Tema de Office</vt:lpstr>
      <vt:lpstr>Presentación de PowerPoint</vt:lpstr>
      <vt:lpstr>¿Qué es Jev?</vt:lpstr>
      <vt:lpstr>Una llamada evalúa varias preguntas sobre un estado</vt:lpstr>
      <vt:lpstr>Tres tipos de pregunta</vt:lpstr>
      <vt:lpstr>Diseño experimental</vt:lpstr>
      <vt:lpstr>Latencia por caso: de 2,2 a 4,2 veces menor</vt:lpstr>
      <vt:lpstr>La latencia no crece con el número de preguntas</vt:lpstr>
      <vt:lpstr>La decisión se repite; la probabilidad varía</vt:lpstr>
      <vt:lpstr>Concordancia con el LLM: 58 de 59 decisiones</vt:lpstr>
      <vt:lpstr>Ámbito de aplicación y limitaciones</vt:lpstr>
      <vt:lpstr>Conclusiones</vt:lpstr>
      <vt:lpstr>Referencias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Jev</dc:title>
  <dc:subject>Evaluación de un modelo System One frente a un modelo de lenguaje de propósito general</dc:subject>
  <dc:creator>Sharith Javier Manjarrez Pacheco</dc:creator>
  <cp:keywords>Jev; System One; TypeSafe AI; modelos de decisión</cp:keywords>
  <dc:description/>
  <cp:lastModifiedBy>pedro marines perez</cp:lastModifiedBy>
  <cp:revision>2</cp:revision>
  <dcterms:created xsi:type="dcterms:W3CDTF">2026-09-30T08:00:00Z</dcterms:created>
  <dcterms:modified xsi:type="dcterms:W3CDTF">2026-09-30T16:29:43Z</dcterms:modified>
</cp:coreProperties>
</file>